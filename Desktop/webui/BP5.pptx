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84" r:id="rId4"/>
    <p:sldId id="257" r:id="rId5"/>
    <p:sldId id="267" r:id="rId6"/>
    <p:sldId id="258" r:id="rId7"/>
    <p:sldId id="270" r:id="rId8"/>
    <p:sldId id="271" r:id="rId9"/>
    <p:sldId id="272" r:id="rId10"/>
    <p:sldId id="283" r:id="rId11"/>
    <p:sldId id="269" r:id="rId12"/>
    <p:sldId id="280" r:id="rId13"/>
    <p:sldId id="281" r:id="rId14"/>
    <p:sldId id="282" r:id="rId15"/>
  </p:sldIdLst>
  <p:sldSz cx="8737600" cy="48768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64369" y="1143000"/>
            <a:ext cx="552926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12;p2"/>
          <p:cNvSpPr txBox="1"/>
          <p:nvPr>
            <p:ph type="dt" idx="10"/>
          </p:nvPr>
        </p:nvSpPr>
        <p:spPr>
          <a:xfrm>
            <a:off x="327660" y="4520071"/>
            <a:ext cx="1529080" cy="25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" name="Google Shape;13;p2"/>
          <p:cNvSpPr txBox="1"/>
          <p:nvPr>
            <p:ph type="ftr" idx="11"/>
          </p:nvPr>
        </p:nvSpPr>
        <p:spPr>
          <a:xfrm>
            <a:off x="2239010" y="4520071"/>
            <a:ext cx="2075180" cy="25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ct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" name="Google Shape;14;p2"/>
          <p:cNvSpPr txBox="1"/>
          <p:nvPr>
            <p:ph type="sldNum" idx="12"/>
          </p:nvPr>
        </p:nvSpPr>
        <p:spPr>
          <a:xfrm>
            <a:off x="4696460" y="4520071"/>
            <a:ext cx="1529080" cy="25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ct val="0"/>
              </a:spcBef>
              <a:buNone/>
              <a:defRPr/>
            </a:lvl1pPr>
            <a:lvl2pPr marL="0" lvl="1" indent="0" algn="r">
              <a:spcBef>
                <a:spcPct val="0"/>
              </a:spcBef>
              <a:buNone/>
              <a:defRPr/>
            </a:lvl2pPr>
            <a:lvl3pPr marL="0" lvl="2" indent="0" algn="r">
              <a:spcBef>
                <a:spcPct val="0"/>
              </a:spcBef>
              <a:buNone/>
              <a:defRPr/>
            </a:lvl3pPr>
            <a:lvl4pPr marL="0" lvl="3" indent="0" algn="r">
              <a:spcBef>
                <a:spcPct val="0"/>
              </a:spcBef>
              <a:buNone/>
              <a:defRPr/>
            </a:lvl4pPr>
            <a:lvl5pPr marL="0" lvl="4" indent="0" algn="r">
              <a:spcBef>
                <a:spcPct val="0"/>
              </a:spcBef>
              <a:buNone/>
              <a:defRPr/>
            </a:lvl5pPr>
            <a:lvl6pPr marL="0" lvl="5" indent="0" algn="r">
              <a:spcBef>
                <a:spcPct val="0"/>
              </a:spcBef>
              <a:buNone/>
              <a:defRPr/>
            </a:lvl6pPr>
            <a:lvl7pPr marL="0" lvl="6" indent="0" algn="r">
              <a:spcBef>
                <a:spcPct val="0"/>
              </a:spcBef>
              <a:buNone/>
              <a:defRPr/>
            </a:lvl7pPr>
            <a:lvl8pPr marL="0" lvl="7" indent="0" algn="r">
              <a:spcBef>
                <a:spcPct val="0"/>
              </a:spcBef>
              <a:buNone/>
              <a:defRPr/>
            </a:lvl8pPr>
            <a:lvl9pPr marL="0" lvl="8" indent="0" algn="r">
              <a:spcBef>
                <a:spcPct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1.png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jpeg"/><Relationship Id="rId8" Type="http://schemas.openxmlformats.org/officeDocument/2006/relationships/image" Target="../media/image35.jpeg"/><Relationship Id="rId7" Type="http://schemas.openxmlformats.org/officeDocument/2006/relationships/image" Target="../media/image34.jpeg"/><Relationship Id="rId6" Type="http://schemas.openxmlformats.org/officeDocument/2006/relationships/image" Target="../media/image33.jpeg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39.jpeg"/><Relationship Id="rId11" Type="http://schemas.openxmlformats.org/officeDocument/2006/relationships/image" Target="../media/image38.jpeg"/><Relationship Id="rId10" Type="http://schemas.openxmlformats.org/officeDocument/2006/relationships/image" Target="../media/image37.jpe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1.jpeg"/><Relationship Id="rId1" Type="http://schemas.openxmlformats.org/officeDocument/2006/relationships/image" Target="../media/image4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2700"/>
            <a:ext cx="8737600" cy="4876800"/>
          </a:xfrm>
          <a:prstGeom prst="rect">
            <a:avLst/>
          </a:prstGeom>
        </p:spPr>
      </p:pic>
      <p:sp>
        <p:nvSpPr>
          <p:cNvPr id="3" name="textbox 4"/>
          <p:cNvSpPr/>
          <p:nvPr/>
        </p:nvSpPr>
        <p:spPr>
          <a:xfrm>
            <a:off x="2385263" y="276852"/>
            <a:ext cx="5426073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967105" algn="l">
              <a:lnSpc>
                <a:spcPct val="81000"/>
              </a:lnSpc>
            </a:pPr>
            <a:endParaRPr lang="zh-CN" sz="3500" b="1" spc="-10">
              <a:solidFill>
                <a:srgbClr val="E0402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>
              <a:lnSpc>
                <a:spcPct val="97000"/>
              </a:lnSpc>
              <a:spcBef>
                <a:spcPts val="655"/>
              </a:spcBef>
            </a:pPr>
            <a:r>
              <a:rPr sz="2200" b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首个“家校同频”智能助教</a:t>
            </a:r>
            <a:r>
              <a:rPr sz="2200" b="1" spc="-1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系统</a:t>
            </a:r>
            <a:endParaRPr sz="2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33705" algn="l">
              <a:lnSpc>
                <a:spcPct val="95000"/>
              </a:lnSpc>
              <a:spcBef>
                <a:spcPts val="0"/>
              </a:spcBef>
            </a:pPr>
            <a:r>
              <a:rPr lang="zh-CN" sz="1200" spc="5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为每个家庭配备一位真正</a:t>
            </a:r>
            <a:r>
              <a:rPr lang="en-US" sz="1200" spc="5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sz="1200" b="1" spc="50">
                <a:solidFill>
                  <a:srgbClr val="FF02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</a:t>
            </a:r>
            <a:r>
              <a:rPr lang="en-US" sz="1200" spc="5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sz="1200" spc="5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过课的</a:t>
            </a:r>
            <a:r>
              <a:rPr lang="en-US" sz="1200" spc="5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sz="1200" spc="5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助教</a:t>
            </a:r>
            <a:endParaRPr lang="zh-CN" sz="1200" spc="50">
              <a:solidFill>
                <a:srgbClr val="00000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6"/>
          <p:cNvSpPr/>
          <p:nvPr/>
        </p:nvSpPr>
        <p:spPr>
          <a:xfrm>
            <a:off x="5226015" y="3585188"/>
            <a:ext cx="2477135" cy="899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[模式创新]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275"/>
              </a:spcBef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家校协</a:t>
            </a:r>
            <a:r>
              <a:rPr lang="zh-CN" sz="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同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闭环—打通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学校与家庭的数据断层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5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275"/>
              </a:spcBef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[顶尖团队]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清华背景团队一技术底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座+产品落地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textbox 8"/>
          <p:cNvSpPr/>
          <p:nvPr/>
        </p:nvSpPr>
        <p:spPr>
          <a:xfrm>
            <a:off x="4705341" y="2668434"/>
            <a:ext cx="2589529" cy="673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</a:pP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THREE</a:t>
            </a:r>
            <a:r>
              <a:rPr sz="12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 HIGHLIGHTS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32765" algn="l" rtl="0" eaLnBrk="0">
              <a:lnSpc>
                <a:spcPct val="95000"/>
              </a:lnSpc>
              <a:spcBef>
                <a:spcPts val="280"/>
              </a:spcBef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[路</a:t>
            </a:r>
            <a:r>
              <a:rPr lang="zh-CN" sz="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径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创新]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课堂原生数据—无感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复刻真实授课记忆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textbox 10"/>
          <p:cNvSpPr/>
          <p:nvPr/>
        </p:nvSpPr>
        <p:spPr>
          <a:xfrm>
            <a:off x="1358928" y="3705649"/>
            <a:ext cx="2126614" cy="569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>
              <a:lnSpc>
                <a:spcPct val="87000"/>
              </a:lnSpc>
            </a:pPr>
            <a:endParaRPr sz="1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0255" algn="l">
              <a:lnSpc>
                <a:spcPct val="99000"/>
              </a:lnSpc>
            </a:pPr>
            <a:r>
              <a:rPr sz="1200" b="1" spc="-6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闭环协作</a:t>
            </a:r>
            <a:endParaRPr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3355" algn="l">
              <a:lnSpc>
                <a:spcPct val="99000"/>
              </a:lnSpc>
              <a:spcBef>
                <a:spcPts val="70"/>
              </a:spcBef>
            </a:pPr>
            <a:r>
              <a:rPr sz="1200" b="1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家长</a:t>
            </a:r>
            <a:r>
              <a:rPr sz="120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</a:t>
            </a:r>
            <a:r>
              <a:rPr lang="zh-CN" sz="120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学生</a:t>
            </a:r>
            <a:r>
              <a:rPr sz="120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endParaRPr sz="12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37000"/>
              </a:lnSpc>
            </a:pPr>
            <a:endParaRPr sz="2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>
              <a:lnSpc>
                <a:spcPct val="95000"/>
              </a:lnSpc>
              <a:spcBef>
                <a:spcPts val="0"/>
              </a:spcBef>
            </a:pPr>
            <a:r>
              <a:rPr sz="900" spc="-2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有据可依督学</a:t>
            </a:r>
            <a:r>
              <a:rPr sz="900" spc="1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</a:t>
            </a:r>
            <a:r>
              <a:rPr sz="900" spc="-2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课后精准辅导</a:t>
            </a:r>
            <a:endParaRPr sz="90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textbox 12"/>
          <p:cNvSpPr/>
          <p:nvPr/>
        </p:nvSpPr>
        <p:spPr>
          <a:xfrm>
            <a:off x="6407164" y="1794761"/>
            <a:ext cx="1496060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100000"/>
              </a:lnSpc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闭环辅导</a:t>
            </a:r>
            <a:endParaRPr sz="12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3000"/>
              </a:lnSpc>
            </a:pPr>
            <a:endParaRPr sz="2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lang="zh-CN" sz="9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数字人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对话+个性化练习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textbox 14"/>
          <p:cNvSpPr/>
          <p:nvPr/>
        </p:nvSpPr>
        <p:spPr>
          <a:xfrm>
            <a:off x="3949714" y="1794285"/>
            <a:ext cx="1274444" cy="37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9000"/>
              </a:lnSpc>
            </a:pP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多模态结构化</a:t>
            </a:r>
            <a:endParaRPr sz="12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4000"/>
              </a:lnSpc>
            </a:pPr>
            <a:endParaRPr sz="2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远场语</a:t>
            </a:r>
            <a:r>
              <a:rPr lang="zh-CN" sz="9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音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识别+语义分析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textbox 16"/>
          <p:cNvSpPr/>
          <p:nvPr/>
        </p:nvSpPr>
        <p:spPr>
          <a:xfrm>
            <a:off x="1519325" y="1794761"/>
            <a:ext cx="1052830" cy="37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100000"/>
              </a:lnSpc>
            </a:pP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数据采集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语</a:t>
            </a:r>
            <a:r>
              <a:rPr lang="zh-CN" sz="9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音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+板书实时捕获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textbox 18"/>
          <p:cNvSpPr/>
          <p:nvPr/>
        </p:nvSpPr>
        <p:spPr>
          <a:xfrm>
            <a:off x="2120900" y="2817495"/>
            <a:ext cx="617220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7955" algn="l" rtl="0" eaLnBrk="0">
              <a:lnSpc>
                <a:spcPct val="100000"/>
              </a:lnSpc>
            </a:pP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教师</a:t>
            </a:r>
            <a:endParaRPr sz="1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3000"/>
              </a:lnSpc>
            </a:pPr>
            <a:r>
              <a:rPr lang="en-US" sz="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零打扰授课</a:t>
            </a:r>
            <a:endParaRPr sz="9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sp>
        <p:nvSpPr>
          <p:cNvPr id="11" name="textbox 20"/>
          <p:cNvSpPr/>
          <p:nvPr/>
        </p:nvSpPr>
        <p:spPr>
          <a:xfrm>
            <a:off x="1005578" y="1924639"/>
            <a:ext cx="398779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45"/>
              </a:lnSpc>
            </a:pPr>
            <a:r>
              <a:rPr sz="1200" b="1" kern="0" spc="-120" dirty="0">
                <a:solidFill>
                  <a:srgbClr val="FFFFFF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⑤</a:t>
            </a:r>
            <a:r>
              <a:rPr sz="1200" kern="0" spc="150" dirty="0">
                <a:solidFill>
                  <a:srgbClr val="FFFFFF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 </a:t>
            </a:r>
            <a:r>
              <a:rPr sz="1200" b="1" kern="0" spc="-120" dirty="0">
                <a:solidFill>
                  <a:srgbClr val="FFFFFF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日</a:t>
            </a:r>
            <a:endParaRPr sz="12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  <p:pic>
        <p:nvPicPr>
          <p:cNvPr id="1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" y="1689735"/>
            <a:ext cx="660400" cy="590550"/>
          </a:xfrm>
          <a:prstGeom prst="rect">
            <a:avLst/>
          </a:prstGeom>
        </p:spPr>
      </p:pic>
      <p:sp>
        <p:nvSpPr>
          <p:cNvPr id="14" name="textbox 4"/>
          <p:cNvSpPr/>
          <p:nvPr/>
        </p:nvSpPr>
        <p:spPr>
          <a:xfrm>
            <a:off x="1223526" y="276852"/>
            <a:ext cx="5426073" cy="1090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967105" algn="l">
              <a:lnSpc>
                <a:spcPct val="81000"/>
              </a:lnSpc>
            </a:pPr>
            <a:r>
              <a:rPr sz="3500" b="1" spc="-10">
                <a:solidFill>
                  <a:srgbClr val="E04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MeetMind</a:t>
            </a:r>
            <a:r>
              <a:rPr lang="zh-CN" sz="3500" b="1" spc="-10">
                <a:solidFill>
                  <a:srgbClr val="E04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丨原点教育</a:t>
            </a:r>
            <a:endParaRPr lang="zh-CN" sz="3500" b="1" spc="-10">
              <a:solidFill>
                <a:srgbClr val="E0402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>
              <a:lnSpc>
                <a:spcPct val="97000"/>
              </a:lnSpc>
              <a:spcBef>
                <a:spcPts val="655"/>
              </a:spcBef>
            </a:pPr>
            <a:endParaRPr sz="2200" b="1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68350" y="156210"/>
            <a:ext cx="291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执行摘要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68580"/>
            <a:ext cx="8899525" cy="4989195"/>
          </a:xfrm>
          <a:prstGeom prst="rect">
            <a:avLst/>
          </a:prstGeom>
        </p:spPr>
      </p:pic>
      <p:pic>
        <p:nvPicPr>
          <p:cNvPr id="90" name="图片 11"/>
          <p:cNvPicPr>
            <a:picLocks noChangeAspect="1"/>
          </p:cNvPicPr>
          <p:nvPr/>
        </p:nvPicPr>
        <p:blipFill>
          <a:blip r:embed="rId2"/>
          <a:srcRect b="-304"/>
          <a:stretch>
            <a:fillRect/>
          </a:stretch>
        </p:blipFill>
        <p:spPr>
          <a:xfrm>
            <a:off x="-635" y="-67945"/>
            <a:ext cx="8900160" cy="4988560"/>
          </a:xfrm>
          <a:prstGeom prst="rect">
            <a:avLst/>
          </a:prstGeom>
        </p:spPr>
      </p:pic>
      <p:pic>
        <p:nvPicPr>
          <p:cNvPr id="91" name="图片 2"/>
          <p:cNvPicPr/>
          <p:nvPr/>
        </p:nvPicPr>
        <p:blipFill>
          <a:blip r:embed="rId3"/>
          <a:srcRect r="4475" b="3458"/>
          <a:stretch>
            <a:fillRect/>
          </a:stretch>
        </p:blipFill>
        <p:spPr>
          <a:xfrm>
            <a:off x="6143625" y="2225040"/>
            <a:ext cx="2364105" cy="1333500"/>
          </a:xfrm>
          <a:prstGeom prst="rect">
            <a:avLst/>
          </a:prstGeom>
        </p:spPr>
      </p:pic>
      <p:pic>
        <p:nvPicPr>
          <p:cNvPr id="92" name="图片 1"/>
          <p:cNvPicPr/>
          <p:nvPr/>
        </p:nvPicPr>
        <p:blipFill>
          <a:blip r:embed="rId4"/>
          <a:stretch>
            <a:fillRect/>
          </a:stretch>
        </p:blipFill>
        <p:spPr>
          <a:xfrm>
            <a:off x="3275330" y="2225040"/>
            <a:ext cx="2329180" cy="1256030"/>
          </a:xfrm>
          <a:prstGeom prst="rect">
            <a:avLst/>
          </a:prstGeom>
        </p:spPr>
      </p:pic>
      <p:pic>
        <p:nvPicPr>
          <p:cNvPr id="93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0" y="2225040"/>
            <a:ext cx="2175510" cy="1332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53479"/>
            <a:ext cx="8737600" cy="4769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8737600" cy="4876800"/>
          </a:xfrm>
          <a:prstGeom prst="rect">
            <a:avLst/>
          </a:prstGeom>
        </p:spPr>
      </p:pic>
      <p:sp>
        <p:nvSpPr>
          <p:cNvPr id="101" name="textbox 62"/>
          <p:cNvSpPr/>
          <p:nvPr/>
        </p:nvSpPr>
        <p:spPr>
          <a:xfrm>
            <a:off x="2558415" y="2188210"/>
            <a:ext cx="3751580" cy="2272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35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endParaRPr sz="5450" kern="0" spc="1490" dirty="0">
              <a:solidFill>
                <a:srgbClr val="FFFFFF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5"/>
              </a:spcBef>
            </a:pPr>
            <a:r>
              <a:rPr sz="5450" kern="0" spc="149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数据断层</a:t>
            </a:r>
            <a:endParaRPr sz="54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2" name="textbox 64"/>
          <p:cNvSpPr/>
          <p:nvPr/>
        </p:nvSpPr>
        <p:spPr>
          <a:xfrm>
            <a:off x="1365769" y="439842"/>
            <a:ext cx="6241415" cy="311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2050" b="1" kern="0" spc="60" dirty="0">
                <a:solidFill>
                  <a:srgbClr val="3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问题的根源：家庭与学校</a:t>
            </a:r>
            <a:r>
              <a:rPr sz="2050" b="1" kern="0" spc="50" dirty="0">
                <a:solidFill>
                  <a:srgbClr val="3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间存在巨大的“数据断层”</a:t>
            </a:r>
            <a:endParaRPr sz="20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3" name="textbox 66"/>
          <p:cNvSpPr/>
          <p:nvPr/>
        </p:nvSpPr>
        <p:spPr>
          <a:xfrm>
            <a:off x="551260" y="1297998"/>
            <a:ext cx="2268220" cy="539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100" b="1" kern="0" spc="-40" dirty="0">
                <a:solidFill>
                  <a:srgbClr val="2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学校：真实课堂发生地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lang="zh-CN"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</a:t>
            </a:r>
            <a:r>
              <a:rPr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锁在课堂内</a:t>
            </a:r>
            <a:endParaRPr sz="8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4" name="textbox 68"/>
          <p:cNvSpPr/>
          <p:nvPr/>
        </p:nvSpPr>
        <p:spPr>
          <a:xfrm>
            <a:off x="6652895" y="1298575"/>
            <a:ext cx="1798320" cy="656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85" algn="l" rtl="0" eaLnBrk="0">
              <a:lnSpc>
                <a:spcPct val="96000"/>
              </a:lnSpc>
            </a:pPr>
            <a:r>
              <a:rPr sz="1100" b="1" kern="0" spc="-40" dirty="0">
                <a:solidFill>
                  <a:srgbClr val="2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家庭</a:t>
            </a:r>
            <a:r>
              <a:rPr sz="1100" b="1" kern="0" spc="-40" dirty="0">
                <a:solidFill>
                  <a:srgbClr val="3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100" b="1" kern="0" spc="-40" dirty="0">
                <a:solidFill>
                  <a:srgbClr val="206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辅导与投资决策地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1450" indent="-158750" algn="l" rtl="0" eaLnBrk="0">
              <a:lnSpc>
                <a:spcPct val="118000"/>
              </a:lnSpc>
              <a:spcBef>
                <a:spcPts val="400"/>
              </a:spcBef>
            </a:pPr>
            <a:r>
              <a:rPr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拥有</a:t>
            </a:r>
            <a:r>
              <a:rPr lang="zh-CN"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很</a:t>
            </a:r>
            <a:r>
              <a:rPr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强的</a:t>
            </a:r>
            <a:r>
              <a:rPr lang="zh-CN"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</a:t>
            </a:r>
            <a:r>
              <a:rPr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付意愿，但只能基于猜测和</a:t>
            </a:r>
            <a:r>
              <a:rPr lang="zh-CN"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</a:t>
            </a:r>
            <a:r>
              <a:rPr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用信息进行</a:t>
            </a:r>
            <a:r>
              <a:rPr lang="zh-CN"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教育</a:t>
            </a:r>
            <a:r>
              <a:rPr sz="85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投资决策</a:t>
            </a:r>
            <a:endParaRPr sz="85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05" name="图片 1"/>
          <p:cNvPicPr/>
          <p:nvPr/>
        </p:nvPicPr>
        <p:blipFill>
          <a:blip r:embed="rId2"/>
          <a:srcRect l="2915" t="13098" r="2857" b="14814"/>
          <a:stretch>
            <a:fillRect/>
          </a:stretch>
        </p:blipFill>
        <p:spPr>
          <a:xfrm>
            <a:off x="3284855" y="1894205"/>
            <a:ext cx="2052320" cy="1899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0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  <p:cond evt="onPrev" delay="0"/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 64"/>
          <p:cNvSpPr/>
          <p:nvPr/>
        </p:nvSpPr>
        <p:spPr>
          <a:xfrm>
            <a:off x="0" y="6350"/>
            <a:ext cx="8737600" cy="4876800"/>
          </a:xfrm>
          <a:prstGeom prst="rect">
            <a:avLst/>
          </a:prstGeom>
          <a:solidFill>
            <a:srgbClr val="F0F4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8" name="textbox 66"/>
          <p:cNvSpPr/>
          <p:nvPr/>
        </p:nvSpPr>
        <p:spPr>
          <a:xfrm>
            <a:off x="469877" y="249786"/>
            <a:ext cx="6805930" cy="1363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6000"/>
              </a:lnSpc>
            </a:pPr>
            <a:endParaRPr sz="1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6510" algn="l" rtl="0" eaLnBrk="0">
              <a:lnSpc>
                <a:spcPct val="96000"/>
              </a:lnSpc>
              <a:spcBef>
                <a:spcPts val="785"/>
              </a:spcBef>
            </a:pP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产品矩阵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9000"/>
              </a:lnSpc>
              <a:spcBef>
                <a:spcPts val="590"/>
              </a:spcBef>
            </a:pPr>
            <a:r>
              <a:rPr sz="1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打通“家校协同”的物理入口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2000"/>
              </a:lnSpc>
            </a:pP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软硬结合：以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“Al </a:t>
            </a:r>
            <a:r>
              <a:rPr sz="1900" b="1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伴学终端”为锚点，构建家校</a:t>
            </a:r>
            <a:r>
              <a:rPr sz="19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数据闭环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9" name="group 6"/>
          <p:cNvGrpSpPr/>
          <p:nvPr/>
        </p:nvGrpSpPr>
        <p:grpSpPr>
          <a:xfrm rot="21600000">
            <a:off x="495334" y="1790712"/>
            <a:ext cx="3689276" cy="2317747"/>
            <a:chOff x="0" y="0"/>
            <a:chExt cx="3689276" cy="2317747"/>
          </a:xfrm>
        </p:grpSpPr>
        <p:pic>
          <p:nvPicPr>
            <p:cNvPr id="40" name="picture 6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3689276" cy="2317747"/>
            </a:xfrm>
            <a:prstGeom prst="rect">
              <a:avLst/>
            </a:prstGeom>
          </p:spPr>
        </p:pic>
        <p:sp>
          <p:nvSpPr>
            <p:cNvPr id="41" name="textbox 70"/>
            <p:cNvSpPr/>
            <p:nvPr/>
          </p:nvSpPr>
          <p:spPr>
            <a:xfrm>
              <a:off x="-12700" y="-12700"/>
              <a:ext cx="3714750" cy="2360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84505" algn="l" rtl="0" eaLnBrk="0">
                <a:lnSpc>
                  <a:spcPct val="99000"/>
                </a:lnSpc>
                <a:spcBef>
                  <a:spcPts val="5"/>
                </a:spcBef>
              </a:pPr>
              <a:r>
                <a:rPr sz="1300" b="1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硬件产品：</a:t>
              </a:r>
              <a:r>
                <a:rPr sz="1300" kern="0" spc="-3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3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MeetMind</a:t>
              </a:r>
              <a:r>
                <a:rPr sz="1300" b="1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300" b="1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AI</a:t>
              </a:r>
              <a:r>
                <a:rPr sz="1300" b="1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b="1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学习胶</a:t>
              </a:r>
              <a:r>
                <a:rPr sz="1300" b="1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囊</a:t>
              </a:r>
              <a:endParaRPr sz="1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02565" algn="l" rtl="0" eaLnBrk="0">
                <a:lnSpc>
                  <a:spcPct val="95000"/>
                </a:lnSpc>
                <a:spcBef>
                  <a:spcPts val="1070"/>
                </a:spcBef>
              </a:pPr>
              <a:r>
                <a:rPr sz="10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1000" kern="0" spc="-3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000" b="1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定义：</a:t>
              </a:r>
              <a:r>
                <a:rPr sz="10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一款非侵入式的桌面智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能终端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04470" algn="l" rtl="0" eaLnBrk="0">
                <a:lnSpc>
                  <a:spcPts val="1140"/>
                </a:lnSpc>
                <a:spcBef>
                  <a:spcPts val="750"/>
                </a:spcBef>
              </a:pPr>
              <a:r>
                <a:rPr sz="900" b="1" kern="0" spc="-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900" kern="0" spc="-3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900" b="1" kern="0" spc="-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功能定位：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04165" algn="l" rtl="0" eaLnBrk="0">
                <a:lnSpc>
                  <a:spcPct val="95000"/>
                </a:lnSpc>
                <a:spcBef>
                  <a:spcPts val="425"/>
                </a:spcBef>
              </a:pP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-在学校：老师的“静默助教”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04165" algn="l" rtl="0" eaLnBrk="0">
                <a:lnSpc>
                  <a:spcPct val="95000"/>
                </a:lnSpc>
                <a:spcBef>
                  <a:spcPts val="510"/>
                </a:spcBef>
              </a:pP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-在家里：学生的“学习开关”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02565" algn="l" rtl="0" eaLnBrk="0">
                <a:lnSpc>
                  <a:spcPct val="94000"/>
                </a:lnSpc>
                <a:spcBef>
                  <a:spcPts val="840"/>
                </a:spcBef>
              </a:pP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1000" kern="0" spc="-2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为什么必须是硬件</a:t>
              </a:r>
              <a:r>
                <a:rPr sz="1000" b="1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?</a:t>
              </a:r>
              <a:r>
                <a:rPr sz="1000" kern="0" spc="1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endParaRPr sz="1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304165" algn="l" rtl="0" eaLnBrk="0">
                <a:lnSpc>
                  <a:spcPct val="92000"/>
                </a:lnSpc>
                <a:spcBef>
                  <a:spcPts val="290"/>
                </a:spcBef>
              </a:pP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1. </a:t>
              </a:r>
              <a:r>
                <a:rPr sz="1000" kern="0" spc="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物理隔离：手机是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娱乐设备，学习机是游戏机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04165" algn="l" rtl="0" eaLnBrk="0">
                <a:lnSpc>
                  <a:spcPct val="95000"/>
                </a:lnSpc>
                <a:spcBef>
                  <a:spcPts val="445"/>
                </a:spcBef>
              </a:pP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2.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数据特权：手机进不了公立校课堂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2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4165" algn="l" rtl="0" eaLnBrk="0">
                <a:lnSpc>
                  <a:spcPct val="96000"/>
                </a:lnSpc>
                <a:spcBef>
                  <a:spcPts val="5"/>
                </a:spcBef>
              </a:pP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3.</a:t>
              </a:r>
              <a:r>
                <a:rPr sz="1000" b="1" kern="0" spc="-6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极简操作：</a:t>
              </a: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Click</a:t>
              </a:r>
              <a:r>
                <a:rPr lang="en-US" sz="10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&amp;</a:t>
              </a:r>
              <a:r>
                <a:rPr lang="en-US" sz="10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</a:t>
              </a:r>
              <a:r>
                <a:rPr sz="10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Go</a:t>
              </a:r>
              <a:endParaRPr sz="10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</p:txBody>
        </p:sp>
      </p:grpSp>
      <p:grpSp>
        <p:nvGrpSpPr>
          <p:cNvPr id="42" name="group 8"/>
          <p:cNvGrpSpPr/>
          <p:nvPr/>
        </p:nvGrpSpPr>
        <p:grpSpPr>
          <a:xfrm rot="21600000">
            <a:off x="4546600" y="1790700"/>
            <a:ext cx="3966845" cy="2317750"/>
            <a:chOff x="0" y="0"/>
            <a:chExt cx="3682985" cy="2317747"/>
          </a:xfrm>
        </p:grpSpPr>
        <p:pic>
          <p:nvPicPr>
            <p:cNvPr id="43" name="picture 7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682985" cy="2317747"/>
            </a:xfrm>
            <a:prstGeom prst="rect">
              <a:avLst/>
            </a:prstGeom>
          </p:spPr>
        </p:pic>
        <p:sp>
          <p:nvSpPr>
            <p:cNvPr id="44" name="textbox 74"/>
            <p:cNvSpPr/>
            <p:nvPr/>
          </p:nvSpPr>
          <p:spPr>
            <a:xfrm>
              <a:off x="-12700" y="-12700"/>
              <a:ext cx="3708400" cy="2360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48005" algn="l" rtl="0" eaLnBrk="0">
                <a:lnSpc>
                  <a:spcPct val="99000"/>
                </a:lnSpc>
                <a:spcBef>
                  <a:spcPts val="5"/>
                </a:spcBef>
              </a:pPr>
              <a:r>
                <a:rPr sz="1300" b="1" kern="0" spc="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软件系统：原点教育</a:t>
              </a:r>
              <a:endParaRPr sz="1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54000" algn="l" rtl="0" eaLnBrk="0">
                <a:lnSpc>
                  <a:spcPct val="95000"/>
                </a:lnSpc>
                <a:spcBef>
                  <a:spcPts val="1075"/>
                </a:spcBef>
              </a:pP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1000" kern="0" spc="-4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000" kern="0" spc="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定义：基于课堂数据的</a:t>
              </a:r>
              <a:r>
                <a:rPr sz="1000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AI</a:t>
              </a:r>
              <a:r>
                <a:rPr sz="1000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提分诊断系统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54000" algn="l" rtl="0" eaLnBrk="0">
                <a:lnSpc>
                  <a:spcPts val="1135"/>
                </a:lnSpc>
                <a:spcBef>
                  <a:spcPts val="760"/>
                </a:spcBef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900" kern="0" spc="-3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核心逻辑：</a:t>
              </a:r>
              <a:endParaRPr sz="9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49250" algn="l" rtl="0" eaLnBrk="0">
                <a:lnSpc>
                  <a:spcPct val="96000"/>
                </a:lnSpc>
                <a:spcBef>
                  <a:spcPts val="510"/>
                </a:spcBef>
              </a:pPr>
              <a:r>
                <a:rPr sz="1000" kern="0" spc="-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-不是“题库”,是“病历本”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49250" algn="l" rtl="0" eaLnBrk="0">
                <a:lnSpc>
                  <a:spcPct val="95000"/>
                </a:lnSpc>
                <a:spcBef>
                  <a:spcPts val="450"/>
                </a:spcBef>
              </a:pPr>
              <a:r>
                <a:rPr sz="1000" kern="0" spc="-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-不是“看录像”,是“做手术”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255270" algn="l" rtl="0" eaLnBrk="0">
                <a:lnSpc>
                  <a:spcPts val="1015"/>
                </a:lnSpc>
                <a:spcBef>
                  <a:spcPts val="595"/>
                </a:spcBef>
              </a:pPr>
              <a:r>
                <a:rPr sz="800" b="1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·</a:t>
              </a:r>
              <a:r>
                <a:rPr sz="800" kern="0" spc="-2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800" b="1" kern="0" spc="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功能：</a:t>
              </a:r>
              <a:endParaRPr sz="8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49250" algn="l" rtl="0" eaLnBrk="0">
                <a:lnSpc>
                  <a:spcPct val="96000"/>
                </a:lnSpc>
                <a:spcBef>
                  <a:spcPts val="550"/>
                </a:spcBef>
              </a:pPr>
              <a:r>
                <a:rPr sz="10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</a:t>
              </a:r>
              <a:r>
                <a:rPr sz="1000" kern="0" spc="-2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0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结构化回放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349250" algn="l" rtl="0" eaLnBrk="0">
                <a:lnSpc>
                  <a:spcPct val="96000"/>
                </a:lnSpc>
                <a:spcBef>
                  <a:spcPts val="440"/>
                </a:spcBef>
              </a:pPr>
              <a:r>
                <a:rPr sz="10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</a:t>
              </a:r>
              <a:r>
                <a:rPr sz="1000" kern="0" spc="-23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000" kern="0" spc="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精准变式题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1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9250" algn="l" rtl="0" eaLnBrk="0">
                <a:lnSpc>
                  <a:spcPct val="95000"/>
                </a:lnSpc>
                <a:spcBef>
                  <a:spcPts val="5"/>
                </a:spcBef>
              </a:pPr>
              <a:r>
                <a:rPr sz="10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-</a:t>
              </a:r>
              <a:r>
                <a:rPr sz="1000" kern="0" spc="-2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10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学情诊断报告</a:t>
              </a:r>
              <a:endParaRPr sz="10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45" name="textbox 76"/>
          <p:cNvSpPr/>
          <p:nvPr/>
        </p:nvSpPr>
        <p:spPr>
          <a:xfrm>
            <a:off x="2048193" y="4335191"/>
            <a:ext cx="4837618" cy="302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9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物理入口+数字闭环=教育场景的完整重构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005" y="2291715"/>
            <a:ext cx="1134745" cy="933450"/>
          </a:xfrm>
          <a:prstGeom prst="rect">
            <a:avLst/>
          </a:prstGeom>
        </p:spPr>
      </p:pic>
      <p:pic>
        <p:nvPicPr>
          <p:cNvPr id="47" name="图片 4"/>
          <p:cNvPicPr>
            <a:picLocks noChangeAspect="1"/>
          </p:cNvPicPr>
          <p:nvPr/>
        </p:nvPicPr>
        <p:blipFill>
          <a:blip r:embed="rId4"/>
          <a:srcRect t="6868" b="9313"/>
          <a:stretch>
            <a:fillRect/>
          </a:stretch>
        </p:blipFill>
        <p:spPr>
          <a:xfrm>
            <a:off x="6570980" y="2494280"/>
            <a:ext cx="1849755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7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8737600" cy="4876800"/>
          </a:xfrm>
          <a:prstGeom prst="rect">
            <a:avLst/>
          </a:prstGeom>
        </p:spPr>
      </p:pic>
      <p:pic>
        <p:nvPicPr>
          <p:cNvPr id="5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87350" y="1098550"/>
            <a:ext cx="2368550" cy="2809240"/>
          </a:xfrm>
          <a:prstGeom prst="rect">
            <a:avLst/>
          </a:prstGeom>
        </p:spPr>
      </p:pic>
      <p:sp>
        <p:nvSpPr>
          <p:cNvPr id="51" name="textbox 82"/>
          <p:cNvSpPr/>
          <p:nvPr/>
        </p:nvSpPr>
        <p:spPr>
          <a:xfrm>
            <a:off x="243299" y="161911"/>
            <a:ext cx="5933440" cy="820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32505" algn="l" rtl="0" eaLnBrk="0">
              <a:lnSpc>
                <a:spcPct val="96000"/>
              </a:lnSpc>
              <a:spcBef>
                <a:spcPts val="155"/>
              </a:spcBef>
            </a:pPr>
            <a:r>
              <a:rPr sz="2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核心体验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5"/>
              </a:spcBef>
            </a:pP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从“课堂原声”到“个性化私教”的三级进化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2" name="picture 8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49616" y="2629543"/>
            <a:ext cx="2038394" cy="1193791"/>
          </a:xfrm>
          <a:prstGeom prst="rect">
            <a:avLst/>
          </a:prstGeom>
        </p:spPr>
      </p:pic>
      <p:pic>
        <p:nvPicPr>
          <p:cNvPr id="53" name="picture 8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27766" y="2584460"/>
            <a:ext cx="2012968" cy="1187452"/>
          </a:xfrm>
          <a:prstGeom prst="rect">
            <a:avLst/>
          </a:prstGeom>
        </p:spPr>
      </p:pic>
      <p:sp>
        <p:nvSpPr>
          <p:cNvPr id="54" name="textbox 88"/>
          <p:cNvSpPr/>
          <p:nvPr/>
        </p:nvSpPr>
        <p:spPr>
          <a:xfrm>
            <a:off x="539778" y="1619301"/>
            <a:ext cx="2094229" cy="859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6555" algn="l" rtl="0" eaLnBrk="0">
              <a:lnSpc>
                <a:spcPct val="95000"/>
              </a:lnSpc>
            </a:pP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第一级：全息音频流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80670" algn="l" rtl="0" eaLnBrk="0">
              <a:lnSpc>
                <a:spcPct val="95000"/>
              </a:lnSpc>
              <a:spcBef>
                <a:spcPts val="240"/>
              </a:spcBef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听得全：高保真还原课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堂现场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50"/>
              </a:lnSpc>
              <a:spcBef>
                <a:spcPts val="675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700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形态：实时流式语音转文本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ASR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)+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意图高亮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55"/>
              </a:lnSpc>
              <a:spcBef>
                <a:spcPts val="300"/>
              </a:spcBef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7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功能：自动茗记、热词索引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、时间跳转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5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·价值：解决“记不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全”的问题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5" name="textbox 90"/>
          <p:cNvSpPr/>
          <p:nvPr/>
        </p:nvSpPr>
        <p:spPr>
          <a:xfrm>
            <a:off x="3314665" y="1679012"/>
            <a:ext cx="2011679" cy="871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5755" algn="l" rtl="0" eaLnBrk="0">
              <a:lnSpc>
                <a:spcPct val="95000"/>
              </a:lnSpc>
            </a:pPr>
            <a:r>
              <a:rPr sz="11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第二级：原生交互视</a:t>
            </a: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频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9070" algn="l" rtl="0" eaLnBrk="0">
              <a:lnSpc>
                <a:spcPct val="96000"/>
              </a:lnSpc>
              <a:spcBef>
                <a:spcPts val="345"/>
              </a:spcBef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看得懂：基于原生数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据的视觉重构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50"/>
              </a:lnSpc>
              <a:spcBef>
                <a:spcPts val="665"/>
              </a:spcBef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700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形态：课堂回放+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视觉增强标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签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55"/>
              </a:lnSpc>
              <a:spcBef>
                <a:spcPts val="400"/>
              </a:spcBef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7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功能：关键</a:t>
            </a:r>
            <a:r>
              <a:rPr lang="zh-CN"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帧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定位、可交互提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问、重点高亮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5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·价值：解决“听不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懂”的问题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textbox 92"/>
          <p:cNvSpPr/>
          <p:nvPr/>
        </p:nvSpPr>
        <p:spPr>
          <a:xfrm>
            <a:off x="6115066" y="1692308"/>
            <a:ext cx="1853564" cy="857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27" rIns="0" bIns="0"/>
          <a:lstStyle/>
          <a:p>
            <a:pPr marL="344170" indent="-100965" algn="l" rtl="0" eaLnBrk="0">
              <a:lnSpc>
                <a:spcPct val="110000"/>
              </a:lnSpc>
              <a:spcBef>
                <a:spcPts val="5"/>
              </a:spcBef>
            </a:pP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第三级：</a:t>
            </a: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</a:t>
            </a:r>
            <a:r>
              <a:rPr sz="1100" b="1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主动干预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练得准：苏格拉底式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AI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私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教</a:t>
            </a:r>
            <a:endParaRPr sz="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55"/>
              </a:lnSpc>
              <a:spcBef>
                <a:spcPts val="560"/>
              </a:spcBef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700" kern="0" spc="-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形态：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AI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数字人+动态错题本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850"/>
              </a:lnSpc>
              <a:spcBef>
                <a:spcPts val="490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7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功能：变式</a:t>
            </a:r>
            <a:r>
              <a:rPr lang="zh-CN"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题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生成、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错</a:t>
            </a:r>
            <a:r>
              <a:rPr lang="zh-CN" sz="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因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诊断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0"/>
              </a:lnSpc>
              <a:spcBef>
                <a:spcPts val="0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·价值：解决“学不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会”的问题</a:t>
            </a:r>
            <a:endParaRPr sz="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textbox 94"/>
          <p:cNvSpPr/>
          <p:nvPr/>
        </p:nvSpPr>
        <p:spPr>
          <a:xfrm>
            <a:off x="2898152" y="4106144"/>
            <a:ext cx="294449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79450" indent="-667385" algn="l" rtl="0" eaLnBrk="0">
              <a:lnSpc>
                <a:spcPct val="110000"/>
              </a:lnSpc>
            </a:pP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从被动记录</a:t>
            </a:r>
            <a:r>
              <a:rPr sz="1400" kern="0" spc="-4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sz="1400" kern="0" spc="-4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主动交互</a:t>
            </a:r>
            <a:r>
              <a:rPr sz="1400" kern="0" spc="-4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→</a:t>
            </a:r>
            <a:r>
              <a:rPr sz="1400" kern="0" spc="-4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主动干预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完整的认知闭环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8" name="textbox 96"/>
          <p:cNvSpPr/>
          <p:nvPr/>
        </p:nvSpPr>
        <p:spPr>
          <a:xfrm>
            <a:off x="635018" y="3066629"/>
            <a:ext cx="1185544" cy="391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0"/>
              </a:lnSpc>
            </a:pP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</a:t>
            </a:r>
            <a:r>
              <a:rPr sz="3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就腑院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犯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院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EME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胱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EN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 </a:t>
            </a:r>
            <a:r>
              <a:rPr sz="300" kern="0" spc="30" dirty="0">
                <a:solidFill>
                  <a:srgbClr val="302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如院</a:t>
            </a:r>
            <a:r>
              <a:rPr sz="300" kern="0" spc="20" dirty="0">
                <a:solidFill>
                  <a:srgbClr val="302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程8</a:t>
            </a:r>
            <a:r>
              <a:rPr sz="300" kern="0" spc="0" dirty="0">
                <a:solidFill>
                  <a:srgbClr val="302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阳随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r>
              <a:rPr sz="3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院，阳能胎</a:t>
            </a:r>
            <a:endParaRPr sz="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51000"/>
              </a:lnSpc>
              <a:spcBef>
                <a:spcPts val="595"/>
              </a:spcBef>
            </a:pP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适随随9北泉部流具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资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MECLER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RB    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知留糕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开</a:t>
            </a:r>
            <a:r>
              <a:rPr sz="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阳</a:t>
            </a:r>
            <a:r>
              <a:rPr sz="3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铎</a:t>
            </a:r>
            <a:r>
              <a:rPr sz="3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店</a:t>
            </a:r>
            <a:r>
              <a:rPr sz="3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班移.</a:t>
            </a:r>
            <a:endParaRPr sz="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80"/>
              </a:lnSpc>
            </a:pP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所器：陈防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3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沁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皓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r>
              <a:rPr sz="300" kern="0" spc="30" dirty="0">
                <a:solidFill>
                  <a:srgbClr val="000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sz="300" kern="0" spc="-10" dirty="0">
                <a:solidFill>
                  <a:srgbClr val="000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30" dirty="0">
                <a:solidFill>
                  <a:srgbClr val="000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帽陋路婚</a:t>
            </a:r>
            <a:r>
              <a:rPr sz="300" kern="0" spc="30" dirty="0">
                <a:solidFill>
                  <a:srgbClr val="403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</a:t>
            </a:r>
            <a:r>
              <a:rPr sz="300" kern="0" spc="-50" dirty="0">
                <a:solidFill>
                  <a:srgbClr val="403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所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sz="3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陋以肺陆随7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</a:t>
            </a:r>
            <a:r>
              <a:rPr sz="3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健围脑</a:t>
            </a:r>
            <a:endParaRPr sz="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9" name="picture 9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025936" y="1104888"/>
            <a:ext cx="755627" cy="495336"/>
          </a:xfrm>
          <a:prstGeom prst="rect">
            <a:avLst/>
          </a:prstGeom>
        </p:spPr>
      </p:pic>
      <p:pic>
        <p:nvPicPr>
          <p:cNvPr id="60" name="picture 1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83393" y="1111227"/>
            <a:ext cx="615913" cy="508016"/>
          </a:xfrm>
          <a:prstGeom prst="rect">
            <a:avLst/>
          </a:prstGeom>
        </p:spPr>
      </p:pic>
      <p:sp>
        <p:nvSpPr>
          <p:cNvPr id="61" name="textbox 102"/>
          <p:cNvSpPr/>
          <p:nvPr/>
        </p:nvSpPr>
        <p:spPr>
          <a:xfrm>
            <a:off x="1955793" y="2915325"/>
            <a:ext cx="541655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300" b="1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B5E2</a:t>
            </a:r>
            <a:endParaRPr sz="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50165" algn="l" rtl="0" eaLnBrk="0">
              <a:lnSpc>
                <a:spcPts val="400"/>
              </a:lnSpc>
              <a:spcBef>
                <a:spcPts val="150"/>
              </a:spcBef>
            </a:pP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SNEKE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泪</a:t>
            </a:r>
            <a:r>
              <a:rPr sz="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NSS0NIB</a:t>
            </a: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" algn="l" rtl="0" eaLnBrk="0">
              <a:lnSpc>
                <a:spcPts val="380"/>
              </a:lnSpc>
              <a:spcBef>
                <a:spcPts val="30"/>
              </a:spcBef>
            </a:pPr>
            <a:r>
              <a:rPr sz="3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BDM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8,</a:t>
            </a:r>
            <a:r>
              <a:rPr sz="300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邦贴口院院知，鹏</a:t>
            </a:r>
            <a:endParaRPr sz="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95"/>
              </a:lnSpc>
            </a:pPr>
            <a:r>
              <a:rPr sz="3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自海移忆</a:t>
            </a:r>
            <a:endParaRPr sz="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6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530" y="2550795"/>
            <a:ext cx="1968500" cy="13150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12700"/>
            <a:ext cx="8737600" cy="4876800"/>
          </a:xfrm>
          <a:prstGeom prst="rect">
            <a:avLst/>
          </a:prstGeom>
        </p:spPr>
      </p:pic>
      <p:sp>
        <p:nvSpPr>
          <p:cNvPr id="65" name="textbox 106"/>
          <p:cNvSpPr/>
          <p:nvPr/>
        </p:nvSpPr>
        <p:spPr>
          <a:xfrm>
            <a:off x="6464308" y="1115497"/>
            <a:ext cx="2004695" cy="280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远场语音识别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(Fa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r-field ASR)</a:t>
            </a:r>
            <a:endParaRPr sz="9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540"/>
              </a:spcBef>
            </a:pP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声纹分离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(Speaker Diarizatio</a:t>
            </a: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n)</a:t>
            </a:r>
            <a:endParaRPr sz="9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410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板书关键</a:t>
            </a:r>
            <a:r>
              <a:rPr lang="zh-CN"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帧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提取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4000"/>
              </a:lnSpc>
              <a:spcBef>
                <a:spcPts val="540"/>
              </a:spcBef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多模态对齐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(Audio</a:t>
            </a:r>
            <a:r>
              <a:rPr sz="900" b="1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-Visual Alignment)</a:t>
            </a:r>
            <a:endParaRPr sz="9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14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280"/>
              </a:spcBef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3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长时记忆：课堂原生记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忆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475"/>
              </a:spcBef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有效记忆沉淀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425"/>
              </a:spcBef>
            </a:pP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考点对齐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505"/>
              </a:spcBef>
            </a:pP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盲区定位</a:t>
            </a:r>
            <a:r>
              <a:rPr sz="9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(RAG</a:t>
            </a:r>
            <a:r>
              <a:rPr sz="900" b="1" kern="0" spc="3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能力)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3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3000"/>
              </a:lnSpc>
            </a:pPr>
            <a:endParaRPr sz="10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5000"/>
              </a:lnSpc>
              <a:spcBef>
                <a:spcPts val="275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文本输出：分层诊断报告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970" algn="l" rtl="0" eaLnBrk="0">
              <a:lnSpc>
                <a:spcPct val="96000"/>
              </a:lnSpc>
              <a:spcBef>
                <a:spcPts val="470"/>
              </a:spcBef>
            </a:pPr>
            <a:r>
              <a:rPr sz="9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·语音/视频输出：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拟人化交互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8000"/>
              </a:lnSpc>
            </a:pPr>
            <a:endParaRPr sz="300" b="1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algn="l" rtl="0" eaLnBrk="0">
              <a:lnSpc>
                <a:spcPct val="96000"/>
              </a:lnSpc>
              <a:spcBef>
                <a:spcPts val="5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900" b="1" kern="0" spc="-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闭环输出：原生变式题生成</a:t>
            </a:r>
            <a:endParaRPr sz="900" b="1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6" name="textbox 108"/>
          <p:cNvSpPr/>
          <p:nvPr/>
        </p:nvSpPr>
        <p:spPr>
          <a:xfrm>
            <a:off x="127014" y="100201"/>
            <a:ext cx="4850765" cy="494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340"/>
              </a:spcBef>
            </a:pPr>
            <a:r>
              <a:rPr lang="en-US"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endParaRPr lang="en-US" sz="600" kern="0" spc="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340"/>
              </a:spcBef>
            </a:pPr>
            <a:r>
              <a:rPr sz="24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技术壁垒</a:t>
            </a:r>
            <a:endParaRPr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7" name="textbox 110"/>
          <p:cNvSpPr/>
          <p:nvPr/>
        </p:nvSpPr>
        <p:spPr>
          <a:xfrm>
            <a:off x="2523523" y="4240194"/>
            <a:ext cx="3823970" cy="549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76" rIns="0" bIns="0"/>
          <a:lstStyle/>
          <a:p>
            <a:pPr marL="819150" indent="-806450" algn="l" rtl="0" eaLnBrk="0">
              <a:lnSpc>
                <a:spcPct val="110000"/>
              </a:lnSpc>
              <a:spcBef>
                <a:spcPts val="5"/>
              </a:spcBef>
            </a:pPr>
            <a:r>
              <a:rPr sz="16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从“</a:t>
            </a:r>
            <a:r>
              <a:rPr sz="1600" b="1" kern="0" spc="10" dirty="0">
                <a:solidFill>
                  <a:srgbClr val="1070E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听得到</a:t>
            </a:r>
            <a:r>
              <a:rPr sz="1600" b="1" kern="0" spc="10" dirty="0">
                <a:solidFill>
                  <a:srgbClr val="20609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”→“</a:t>
            </a:r>
            <a:r>
              <a:rPr sz="1600" b="1" kern="0" spc="10" dirty="0">
                <a:solidFill>
                  <a:srgbClr val="E0A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听得懂</a:t>
            </a:r>
            <a:r>
              <a:rPr sz="16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sz="1600" kern="0" spc="5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</a:t>
            </a:r>
            <a:r>
              <a:rPr sz="1400" kern="0" spc="-3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10" dirty="0">
                <a:solidFill>
                  <a:srgbClr val="E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说</a:t>
            </a:r>
            <a:r>
              <a:rPr sz="1400" kern="0" spc="-190" dirty="0">
                <a:solidFill>
                  <a:srgbClr val="E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10" dirty="0">
                <a:solidFill>
                  <a:srgbClr val="E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得</a:t>
            </a:r>
            <a:r>
              <a:rPr sz="1400" kern="0" spc="-200" dirty="0">
                <a:solidFill>
                  <a:srgbClr val="E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400" b="1" kern="0" spc="10" dirty="0">
                <a:solidFill>
                  <a:srgbClr val="E05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”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6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完整的认知-行动闭环</a:t>
            </a:r>
            <a:endParaRPr sz="1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8" name="textbox 112"/>
          <p:cNvSpPr/>
          <p:nvPr/>
        </p:nvSpPr>
        <p:spPr>
          <a:xfrm>
            <a:off x="1755190" y="1255707"/>
            <a:ext cx="1134744" cy="1592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015" indent="-107315" algn="l" rtl="0" eaLnBrk="0">
              <a:lnSpc>
                <a:spcPct val="108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1400" kern="0" spc="-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听觉与视觉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全息课堂捕获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425"/>
              </a:spcBef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记忆与认知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32715" algn="l" rtl="0" eaLnBrk="0">
              <a:lnSpc>
                <a:spcPct val="99000"/>
              </a:lnSpc>
              <a:spcBef>
                <a:spcPts val="360"/>
              </a:spcBef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上下文流引擎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79375" algn="l" rtl="0" eaLnBrk="0">
              <a:lnSpc>
                <a:spcPct val="81000"/>
              </a:lnSpc>
              <a:spcBef>
                <a:spcPts val="120"/>
              </a:spcBef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(Context    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Stream)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69" name="table 114"/>
          <p:cNvGraphicFramePr/>
          <p:nvPr/>
        </p:nvGraphicFramePr>
        <p:xfrm>
          <a:off x="3390887" y="2194694"/>
          <a:ext cx="1793875" cy="706755"/>
        </p:xfrm>
        <a:graphic>
          <a:graphicData uri="http://schemas.openxmlformats.org/drawingml/2006/table">
            <a:tbl>
              <a:tblPr/>
              <a:tblGrid>
                <a:gridCol w="770255"/>
                <a:gridCol w="1023620"/>
              </a:tblGrid>
              <a:tr h="706755">
                <a:tc>
                  <a:txBody>
                    <a:bodyPr/>
                    <a:lstStyle/>
                    <a:p>
                      <a:pPr marL="12065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6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Memory Stora</a:t>
                      </a:r>
                      <a:r>
                        <a:rPr sz="6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ge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3500" algn="l" rtl="0" eaLnBrk="0">
                        <a:lnSpc>
                          <a:spcPts val="440"/>
                        </a:lnSpc>
                        <a:spcBef>
                          <a:spcPts val="290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Visualization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ts val="900"/>
                        </a:lnSpc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Classroom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" algn="l" rtl="0" eaLnBrk="0">
                        <a:lnSpc>
                          <a:spcPct val="80000"/>
                        </a:lnSpc>
                        <a:spcBef>
                          <a:spcPts val="290"/>
                        </a:spcBef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Native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Memory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9000"/>
                        </a:lnSpc>
                        <a:spcBef>
                          <a:spcPts val="765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Effective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Memory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835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Sedimentation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428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</a:pPr>
                      <a:r>
                        <a:rPr sz="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Knowledge Graph</a:t>
                      </a:r>
                      <a:r>
                        <a:rPr sz="5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5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Nodes</a:t>
                      </a: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5010" indent="-18415" algn="l" rtl="0" eaLnBrk="0">
                        <a:lnSpc>
                          <a:spcPct val="96000"/>
                        </a:lnSpc>
                        <a:spcBef>
                          <a:spcPts val="190"/>
                        </a:spcBef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Leerning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Points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89610" indent="25400" algn="l" rtl="0" eaLnBrk="0">
                        <a:lnSpc>
                          <a:spcPct val="109000"/>
                        </a:lnSpc>
                        <a:spcBef>
                          <a:spcPts val="120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Student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Profile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Lsarning   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History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0" name="textbox 116"/>
          <p:cNvSpPr/>
          <p:nvPr/>
        </p:nvSpPr>
        <p:spPr>
          <a:xfrm>
            <a:off x="3476061" y="645554"/>
            <a:ext cx="1783079" cy="709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>
              <a:lnSpc>
                <a:spcPct val="81000"/>
              </a:lnSpc>
            </a:pPr>
            <a:endParaRPr sz="1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>
              <a:lnSpc>
                <a:spcPct val="99000"/>
              </a:lnSpc>
            </a:pPr>
            <a:r>
              <a:rPr sz="1400" b="1" spc="11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如何</a:t>
            </a:r>
            <a:r>
              <a:rPr lang="zh-CN" sz="1400" b="1" spc="11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做好</a:t>
            </a:r>
            <a:r>
              <a:rPr sz="1400" b="1" spc="11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一位"家教"</a:t>
            </a:r>
            <a:endParaRPr sz="1400" b="1" spc="110">
              <a:solidFill>
                <a:srgbClr val="00000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24000"/>
              </a:lnSpc>
            </a:pPr>
            <a:endParaRPr sz="10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30275" algn="l">
              <a:lnSpc>
                <a:spcPct val="96000"/>
              </a:lnSpc>
              <a:spcBef>
                <a:spcPts val="160"/>
              </a:spcBef>
            </a:pPr>
            <a:r>
              <a:rPr sz="500" b="1" spc="1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Processing</a:t>
            </a:r>
            <a:r>
              <a:rPr sz="500" b="1" spc="7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b="1" spc="1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Nodes</a:t>
            </a:r>
            <a:endParaRPr sz="5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>
              <a:lnSpc>
                <a:spcPct val="109000"/>
              </a:lnSpc>
            </a:pPr>
            <a:endParaRPr sz="70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2775" algn="l">
              <a:lnSpc>
                <a:spcPct val="81000"/>
              </a:lnSpc>
              <a:spcBef>
                <a:spcPts val="5"/>
              </a:spcBef>
            </a:pPr>
            <a:r>
              <a:rPr sz="600" spc="-3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ASR</a:t>
            </a:r>
            <a:r>
              <a:rPr sz="600" spc="6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spc="-3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Engine</a:t>
            </a:r>
            <a:endParaRPr sz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1" name="textbox 118"/>
          <p:cNvSpPr/>
          <p:nvPr/>
        </p:nvSpPr>
        <p:spPr>
          <a:xfrm>
            <a:off x="5473726" y="1371509"/>
            <a:ext cx="659130" cy="13677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</a:pPr>
            <a:r>
              <a:rPr sz="6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Structured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0365" algn="l" rtl="0" eaLnBrk="0">
              <a:lnSpc>
                <a:spcPct val="75000"/>
              </a:lnSpc>
              <a:spcBef>
                <a:spcPts val="0"/>
              </a:spcBef>
            </a:pPr>
            <a:r>
              <a:rPr sz="6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Data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3215" algn="l" rtl="0" eaLnBrk="0">
              <a:lnSpc>
                <a:spcPct val="81000"/>
              </a:lnSpc>
              <a:spcBef>
                <a:spcPts val="5"/>
              </a:spcBef>
            </a:pPr>
            <a:r>
              <a:rPr sz="6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Streams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0665" algn="l" rtl="0" eaLnBrk="0">
              <a:lnSpc>
                <a:spcPct val="81000"/>
              </a:lnSpc>
              <a:spcBef>
                <a:spcPts val="190"/>
              </a:spcBef>
            </a:pPr>
            <a:r>
              <a:rPr sz="6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RAG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" algn="l" rtl="0" eaLnBrk="0">
              <a:lnSpc>
                <a:spcPct val="66000"/>
              </a:lnSpc>
              <a:spcBef>
                <a:spcPts val="170"/>
              </a:spcBef>
            </a:pPr>
            <a:r>
              <a:rPr sz="6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Architecture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5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(Rstrieval-Augmented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0" algn="l" rtl="0" eaLnBrk="0">
              <a:lnSpc>
                <a:spcPct val="97000"/>
              </a:lnSpc>
              <a:spcBef>
                <a:spcPts val="120"/>
              </a:spcBef>
            </a:pPr>
            <a:r>
              <a:rPr sz="5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Generation)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textbox 120"/>
          <p:cNvSpPr/>
          <p:nvPr/>
        </p:nvSpPr>
        <p:spPr>
          <a:xfrm>
            <a:off x="4686293" y="3205357"/>
            <a:ext cx="982344" cy="920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6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Text Output: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  <a:spcBef>
                <a:spcPts val="65"/>
              </a:spcBef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Layered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Diagnostic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0"/>
              </a:lnSpc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Report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595"/>
              </a:spcBef>
            </a:pPr>
            <a:r>
              <a:rPr sz="6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Voice/Video Output: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15"/>
              </a:lnSpc>
              <a:spcBef>
                <a:spcPts val="130"/>
              </a:spcBef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Anthropomorphi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Interaction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  <a:spcBef>
                <a:spcPts val="625"/>
              </a:spcBef>
            </a:pPr>
            <a:r>
              <a:rPr sz="5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Exercise Generation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35"/>
              </a:lnSpc>
            </a:pPr>
            <a:r>
              <a:rPr sz="6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Flew:Native Variant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5"/>
              </a:spcBef>
            </a:pPr>
            <a:r>
              <a:rPr sz="6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Generation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3" name="textbox 122"/>
          <p:cNvSpPr/>
          <p:nvPr/>
        </p:nvSpPr>
        <p:spPr>
          <a:xfrm>
            <a:off x="3194086" y="1332842"/>
            <a:ext cx="1281430" cy="5835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Microphone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315" algn="l" rtl="0" eaLnBrk="0">
              <a:lnSpc>
                <a:spcPct val="98000"/>
              </a:lnSpc>
              <a:spcBef>
                <a:spcPts val="0"/>
              </a:spcBef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Array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13765" algn="l" rtl="0" eaLnBrk="0">
              <a:lnSpc>
                <a:spcPct val="80000"/>
              </a:lnSpc>
              <a:spcBef>
                <a:spcPts val="5"/>
              </a:spcBef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Diarization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15365" algn="l" rtl="0" eaLnBrk="0">
              <a:lnSpc>
                <a:spcPct val="82000"/>
              </a:lnSpc>
              <a:spcBef>
                <a:spcPts val="1010"/>
              </a:spcBef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OCR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915" algn="l" rtl="0" eaLnBrk="0">
              <a:lnSpc>
                <a:spcPct val="81000"/>
              </a:lnSpc>
              <a:spcBef>
                <a:spcPts val="5"/>
              </a:spcBef>
            </a:pPr>
            <a:r>
              <a:rPr sz="6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Camera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4" name="textbox 124"/>
          <p:cNvSpPr/>
          <p:nvPr/>
        </p:nvSpPr>
        <p:spPr>
          <a:xfrm>
            <a:off x="1755190" y="3414114"/>
            <a:ext cx="1105535" cy="445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230" indent="-50165" algn="l" rtl="0" eaLnBrk="0">
              <a:lnSpc>
                <a:spcPct val="113000"/>
              </a:lnSpc>
            </a:pP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sz="14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行动能力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11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多模态干预闭环</a:t>
            </a:r>
            <a:endParaRPr sz="1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5" name="textbox 126"/>
          <p:cNvSpPr/>
          <p:nvPr/>
        </p:nvSpPr>
        <p:spPr>
          <a:xfrm>
            <a:off x="4864103" y="1328072"/>
            <a:ext cx="455930" cy="537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" indent="-56515" algn="l" rtl="0" eaLnBrk="0">
              <a:lnSpc>
                <a:spcPct val="97000"/>
              </a:lnSpc>
            </a:pPr>
            <a:r>
              <a:rPr sz="6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Audio-Visual</a:t>
            </a: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6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Alignment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580" indent="-56515" algn="l" rtl="0" eaLnBrk="0">
              <a:lnSpc>
                <a:spcPct val="118000"/>
              </a:lnSpc>
              <a:spcBef>
                <a:spcPts val="5"/>
              </a:spcBef>
            </a:pPr>
            <a:r>
              <a:rPr sz="5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Board</a:t>
            </a:r>
            <a:r>
              <a:rPr sz="500" b="1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b="1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Fram</a:t>
            </a:r>
            <a:r>
              <a:rPr sz="5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</a:t>
            </a:r>
            <a:r>
              <a:rPr sz="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6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Extraction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6" name="textbox 128"/>
          <p:cNvSpPr/>
          <p:nvPr/>
        </p:nvSpPr>
        <p:spPr>
          <a:xfrm>
            <a:off x="3359139" y="3554584"/>
            <a:ext cx="769619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5730" indent="-113665" algn="l" rtl="0" eaLnBrk="0">
              <a:lnSpc>
                <a:spcPct val="110000"/>
              </a:lnSpc>
            </a:pPr>
            <a:r>
              <a:rPr sz="6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Multi-mod</a:t>
            </a:r>
            <a:r>
              <a:rPr sz="6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6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Output</a:t>
            </a:r>
            <a:r>
              <a:rPr sz="6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6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Visualizati</a:t>
            </a:r>
            <a:r>
              <a:rPr sz="6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" name="textbox 130"/>
          <p:cNvSpPr/>
          <p:nvPr/>
        </p:nvSpPr>
        <p:spPr>
          <a:xfrm>
            <a:off x="5791163" y="3533821"/>
            <a:ext cx="381634" cy="236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小口</a:t>
            </a:r>
            <a:endParaRPr sz="14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textbox 132"/>
          <p:cNvSpPr/>
          <p:nvPr/>
        </p:nvSpPr>
        <p:spPr>
          <a:xfrm>
            <a:off x="4337051" y="2500436"/>
            <a:ext cx="39687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3" rIns="0" bIns="0"/>
          <a:lstStyle/>
          <a:p>
            <a:pPr marL="114300" indent="-101600" algn="l" rtl="0" eaLnBrk="0">
              <a:lnSpc>
                <a:spcPct val="111000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Knowledge 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Points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7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970915"/>
            <a:ext cx="3406775" cy="1005840"/>
          </a:xfrm>
          <a:prstGeom prst="rect">
            <a:avLst/>
          </a:prstGeom>
        </p:spPr>
      </p:pic>
      <p:pic>
        <p:nvPicPr>
          <p:cNvPr id="80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25" y="2049780"/>
            <a:ext cx="3289300" cy="1042035"/>
          </a:xfrm>
          <a:prstGeom prst="rect">
            <a:avLst/>
          </a:prstGeom>
        </p:spPr>
      </p:pic>
      <p:pic>
        <p:nvPicPr>
          <p:cNvPr id="81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3415" y="3161665"/>
            <a:ext cx="3225800" cy="1008380"/>
          </a:xfrm>
          <a:prstGeom prst="rect">
            <a:avLst/>
          </a:prstGeom>
        </p:spPr>
      </p:pic>
      <p:pic>
        <p:nvPicPr>
          <p:cNvPr id="82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3955" y="4239895"/>
            <a:ext cx="3785235" cy="577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99795" y="233680"/>
            <a:ext cx="291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ea typeface="宋体" panose="02010600030101010101" pitchFamily="2" charset="-122"/>
              </a:rPr>
              <a:t>竞品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46990"/>
            <a:ext cx="8736965" cy="4990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8737600" cy="48768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323733" y="740170"/>
            <a:ext cx="2052954" cy="15316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500" b="1" kern="0" spc="-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场景二：私立学校</a:t>
            </a:r>
            <a:endParaRPr sz="15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33000"/>
              </a:lnSpc>
            </a:pPr>
            <a:endParaRPr sz="10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430530" algn="l" rtl="0" eaLnBrk="0">
              <a:lnSpc>
                <a:spcPct val="96000"/>
              </a:lnSpc>
              <a:spcBef>
                <a:spcPts val="275"/>
              </a:spcBef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硬件定价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428625" algn="l" rtl="0" eaLnBrk="0">
              <a:lnSpc>
                <a:spcPct val="96000"/>
              </a:lnSpc>
              <a:spcBef>
                <a:spcPts val="125"/>
              </a:spcBef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¥299</a:t>
            </a: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(成本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¥150,毛利¥149)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11000"/>
              </a:lnSpc>
            </a:pPr>
            <a:endParaRPr sz="10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428625" algn="l" rtl="0" eaLnBrk="0">
              <a:lnSpc>
                <a:spcPct val="96000"/>
              </a:lnSpc>
              <a:spcBef>
                <a:spcPts val="280"/>
              </a:spcBef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软件定价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428625" algn="l" rtl="0" eaLnBrk="0">
              <a:lnSpc>
                <a:spcPct val="81000"/>
              </a:lnSpc>
              <a:spcBef>
                <a:spcPts val="285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¥999/year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05000"/>
              </a:lnSpc>
            </a:pPr>
            <a:endParaRPr sz="900" b="1" kern="0" spc="0" dirty="0">
              <a:solidFill>
                <a:srgbClr val="000000">
                  <a:alpha val="100000"/>
                </a:srgbClr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05000"/>
              </a:lnSpc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lang="en-US" sz="900" b="1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促销活动：买硬件，送首月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549056" y="3215957"/>
            <a:ext cx="1450975" cy="139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200" b="1" kern="0" spc="7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让补习班效果翻倍</a:t>
            </a:r>
            <a:endParaRPr sz="12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40000"/>
              </a:lnSpc>
            </a:pPr>
            <a:endParaRPr sz="10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41000"/>
              </a:lnSpc>
            </a:pPr>
            <a:endParaRPr sz="10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r" rtl="0" eaLnBrk="0">
              <a:lnSpc>
                <a:spcPct val="95000"/>
              </a:lnSpc>
              <a:spcBef>
                <a:spcPts val="360"/>
              </a:spcBef>
            </a:pPr>
            <a:r>
              <a:rPr sz="1200" b="1" kern="0" spc="-9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客</a:t>
            </a:r>
            <a:r>
              <a:rPr sz="1200" b="1" kern="0" spc="-8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户群体：强消费人群</a:t>
            </a:r>
            <a:endParaRPr sz="12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07000"/>
              </a:lnSpc>
            </a:pPr>
            <a:endParaRPr sz="10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07000"/>
              </a:lnSpc>
            </a:pPr>
            <a:endParaRPr sz="10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01000"/>
              </a:lnSpc>
            </a:pPr>
            <a:endParaRPr sz="3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221615" algn="l" rtl="0" eaLnBrk="0">
              <a:lnSpc>
                <a:spcPct val="95000"/>
              </a:lnSpc>
              <a:spcBef>
                <a:spcPts val="0"/>
              </a:spcBef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利</a:t>
            </a:r>
            <a:r>
              <a:rPr lang="en-US"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润</a:t>
            </a:r>
            <a:r>
              <a:rPr lang="en-US"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中</a:t>
            </a:r>
            <a:r>
              <a:rPr lang="en-US"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心</a:t>
            </a:r>
            <a:r>
              <a:rPr lang="en-US"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2</a:t>
            </a:r>
            <a:endParaRPr sz="12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31812" y="4318016"/>
            <a:ext cx="2476500" cy="355600"/>
          </a:xfrm>
          <a:prstGeom prst="rect">
            <a:avLst/>
          </a:prstGeom>
          <a:solidFill>
            <a:srgbClr val="FCE4D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54355" algn="l" rtl="0" eaLnBrk="0">
              <a:lnSpc>
                <a:spcPct val="92000"/>
              </a:lnSpc>
            </a:pP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黑体" panose="02010609060101010101" charset="-122"/>
              </a:rPr>
              <a:t>品牌引擎，收支平衡</a:t>
            </a:r>
            <a:endParaRPr sz="1200" dirty="0">
              <a:latin typeface="方正小标宋_GBK" panose="02000000000000000000" charset="-122"/>
              <a:ea typeface="方正小标宋_GBK" panose="02000000000000000000" charset="-122"/>
              <a:cs typeface="黑体" panose="02010609060101010101" charset="-122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3143264" y="4275461"/>
            <a:ext cx="2483485" cy="391782"/>
            <a:chOff x="0" y="-48895"/>
            <a:chExt cx="2483485" cy="391782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457450" cy="342887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0" y="-48895"/>
              <a:ext cx="2483485" cy="2743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34670" algn="l" rtl="0" eaLnBrk="0">
                <a:lnSpc>
                  <a:spcPct val="95000"/>
                </a:lnSpc>
              </a:pPr>
              <a:r>
                <a:rPr lang="en-US"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        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利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 润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 中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 心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 1</a:t>
              </a:r>
              <a:r>
                <a:rPr sz="1200" b="1" kern="0" spc="-50" dirty="0">
                  <a:solidFill>
                    <a:srgbClr val="000000">
                      <a:alpha val="100000"/>
                    </a:srgbClr>
                  </a:solidFill>
                  <a:latin typeface="方正小标宋_GBK" panose="02000000000000000000" charset="-122"/>
                  <a:ea typeface="方正小标宋_GBK" panose="02000000000000000000" charset="-122"/>
                  <a:cs typeface="方正小标宋_GBK" panose="02000000000000000000" charset="-122"/>
                </a:rPr>
                <a:t> </a:t>
              </a:r>
              <a:endParaRPr sz="1200" b="1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endParaRPr>
            </a:p>
          </p:txBody>
        </p:sp>
      </p:grpSp>
      <p:sp>
        <p:nvSpPr>
          <p:cNvPr id="14" name="textbox 14"/>
          <p:cNvSpPr/>
          <p:nvPr/>
        </p:nvSpPr>
        <p:spPr>
          <a:xfrm>
            <a:off x="802163" y="3585988"/>
            <a:ext cx="1663700" cy="5124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05510" algn="l" rtl="0" eaLnBrk="0">
              <a:lnSpc>
                <a:spcPct val="96000"/>
              </a:lnSpc>
            </a:pP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数据主权归校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120"/>
              </a:spcBef>
            </a:pPr>
            <a:r>
              <a:rPr sz="12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合规认证</a:t>
            </a:r>
            <a:r>
              <a:rPr sz="1200" b="1" kern="0" spc="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</a:t>
            </a:r>
            <a:r>
              <a:rPr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本</a:t>
            </a:r>
            <a:r>
              <a:rPr lang="zh-CN"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本</a:t>
            </a:r>
            <a:r>
              <a:rPr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地部署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r" rtl="0" eaLnBrk="0">
              <a:lnSpc>
                <a:spcPct val="96000"/>
              </a:lnSpc>
              <a:spcBef>
                <a:spcPts val="255"/>
              </a:spcBef>
            </a:pPr>
            <a:r>
              <a:rPr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教师不参与销售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984290" y="1222149"/>
          <a:ext cx="1802764" cy="415925"/>
        </p:xfrm>
        <a:graphic>
          <a:graphicData uri="http://schemas.openxmlformats.org/drawingml/2006/table">
            <a:tbl>
              <a:tblPr/>
              <a:tblGrid>
                <a:gridCol w="929639"/>
                <a:gridCol w="873125"/>
              </a:tblGrid>
              <a:tr h="415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270" algn="l" rtl="0" eaLnBrk="0">
                        <a:lnSpc>
                          <a:spcPct val="96000"/>
                        </a:lnSpc>
                      </a:pPr>
                      <a:r>
                        <a:rPr lang="zh-CN"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硬</a:t>
                      </a: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件采购</a:t>
                      </a:r>
                      <a:endParaRPr sz="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25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¥1,200</a:t>
                      </a: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endParaRPr sz="900" b="1" kern="0" spc="50" dirty="0">
                        <a:solidFill>
                          <a:srgbClr val="00000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77000"/>
                        </a:lnSpc>
                        <a:spcBef>
                          <a:spcPts val="250"/>
                        </a:spcBef>
                      </a:pP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per</a:t>
                      </a:r>
                      <a:r>
                        <a:rPr sz="8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class</a:t>
                      </a:r>
                      <a:r>
                        <a:rPr sz="800" b="1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8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(一次性)</a:t>
                      </a:r>
                      <a:endParaRPr sz="8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78130" algn="l" rtl="0" eaLnBrk="0">
                        <a:lnSpc>
                          <a:spcPct val="96000"/>
                        </a:lnSpc>
                        <a:spcBef>
                          <a:spcPts val="0"/>
                        </a:spcBef>
                      </a:pPr>
                      <a:r>
                        <a:rPr sz="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软件订阅</a:t>
                      </a:r>
                      <a:endParaRPr sz="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276225" algn="l" rtl="0" eaLnBrk="0">
                        <a:lnSpc>
                          <a:spcPct val="71000"/>
                        </a:lnSpc>
                        <a:spcBef>
                          <a:spcPts val="255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¥50</a:t>
                      </a:r>
                      <a:r>
                        <a:rPr sz="9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per</a:t>
                      </a:r>
                      <a:endParaRPr sz="900" b="1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276225" algn="l" rtl="0" eaLnBrk="0">
                        <a:lnSpc>
                          <a:spcPct val="71000"/>
                        </a:lnSpc>
                        <a:spcBef>
                          <a:spcPts val="255"/>
                        </a:spcBef>
                      </a:pP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st</a:t>
                      </a:r>
                      <a:r>
                        <a:rPr sz="8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udent/yea</a:t>
                      </a:r>
                      <a:r>
                        <a:rPr sz="8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r</a:t>
                      </a:r>
                      <a:endParaRPr sz="8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173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textbox 18"/>
          <p:cNvSpPr/>
          <p:nvPr/>
        </p:nvSpPr>
        <p:spPr>
          <a:xfrm>
            <a:off x="2343131" y="195265"/>
            <a:ext cx="4038600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rtl="0" eaLnBrk="0">
              <a:lnSpc>
                <a:spcPct val="86000"/>
              </a:lnSpc>
            </a:pPr>
            <a:endParaRPr sz="100" dirty="0">
              <a:latin typeface="方正小标宋_GBK" panose="02000000000000000000" charset="-122"/>
              <a:ea typeface="方正小标宋_GBK" panose="02000000000000000000" charset="-122"/>
              <a:cs typeface="Arial" panose="020B0604020202020204"/>
            </a:endParaRPr>
          </a:p>
          <a:p>
            <a:pPr marL="12700" algn="ctr" rtl="0" eaLnBrk="0">
              <a:lnSpc>
                <a:spcPct val="83000"/>
              </a:lnSpc>
            </a:pPr>
            <a:r>
              <a:rPr lang="zh-CN" sz="1900" dirty="0">
                <a:latin typeface="方正小标宋_GBK" panose="02000000000000000000" charset="-122"/>
                <a:ea typeface="方正小标宋_GBK" panose="02000000000000000000" charset="-122"/>
                <a:cs typeface="Arial" panose="020B0604020202020204"/>
              </a:rPr>
              <a:t>商业模式</a:t>
            </a:r>
            <a:endParaRPr lang="zh-CN" sz="1900" dirty="0">
              <a:latin typeface="方正小标宋_GBK" panose="02000000000000000000" charset="-122"/>
              <a:ea typeface="方正小标宋_GBK" panose="02000000000000000000" charset="-122"/>
              <a:cs typeface="Arial" panose="020B060402020202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605892" y="759189"/>
            <a:ext cx="1512569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b="1" dirty="0">
              <a:latin typeface="方正小标宋_GBK" panose="02000000000000000000" charset="-122"/>
              <a:ea typeface="方正小标宋_GBK" panose="02000000000000000000" charset="-122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500" b="1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黑体" panose="02010609060101010101" charset="-122"/>
              </a:rPr>
              <a:t>场景一：公立学校</a:t>
            </a:r>
            <a:endParaRPr sz="1500" b="1" dirty="0">
              <a:latin typeface="方正小标宋_GBK" panose="02000000000000000000" charset="-122"/>
              <a:ea typeface="方正小标宋_GBK" panose="02000000000000000000" charset="-122"/>
              <a:cs typeface="黑体" panose="02010609060101010101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428741" y="1985764"/>
            <a:ext cx="880744" cy="327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b="1" dirty="0"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00" b="1" kern="0" spc="60" dirty="0">
                <a:solidFill>
                  <a:srgbClr val="000000">
                    <a:alpha val="100000"/>
                  </a:srgbClr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首年总收入</a:t>
            </a:r>
            <a:endParaRPr sz="900" b="1" dirty="0"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  <a:p>
            <a:pPr marL="12700" algn="l" rtl="0" eaLnBrk="0">
              <a:lnSpc>
                <a:spcPts val="1225"/>
              </a:lnSpc>
              <a:spcBef>
                <a:spcPts val="115"/>
              </a:spcBef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¥3,700per</a:t>
            </a:r>
            <a:r>
              <a:rPr sz="900" b="1" kern="0" spc="70" dirty="0">
                <a:solidFill>
                  <a:srgbClr val="000000">
                    <a:alpha val="100000"/>
                  </a:srgbClr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cl</a:t>
            </a:r>
            <a:r>
              <a:rPr sz="900" b="1" kern="0" spc="-10" dirty="0">
                <a:solidFill>
                  <a:srgbClr val="000000">
                    <a:alpha val="100000"/>
                  </a:srgbClr>
                </a:solidFill>
                <a:latin typeface="方正小标宋简体" panose="02000000000000000000" charset="-122"/>
                <a:ea typeface="方正小标宋简体" panose="02000000000000000000" charset="-122"/>
                <a:cs typeface="方正小标宋简体" panose="02000000000000000000" charset="-122"/>
              </a:rPr>
              <a:t>ass</a:t>
            </a:r>
            <a:endParaRPr sz="900" b="1" dirty="0">
              <a:latin typeface="方正小标宋简体" panose="02000000000000000000" charset="-122"/>
              <a:ea typeface="方正小标宋简体" panose="02000000000000000000" charset="-122"/>
              <a:cs typeface="方正小标宋简体" panose="02000000000000000000" charset="-122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6054268" y="740170"/>
            <a:ext cx="1353185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方正小标宋_GBK" panose="02000000000000000000" charset="-122"/>
              <a:ea typeface="方正小标宋_GBK" panose="02000000000000000000" charset="-122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1500" b="1" kern="0" spc="-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黑体" panose="02010609060101010101" charset="-122"/>
              </a:rPr>
              <a:t>场景三：补习班</a:t>
            </a:r>
            <a:endParaRPr sz="1500" dirty="0">
              <a:latin typeface="方正小标宋_GBK" panose="02000000000000000000" charset="-122"/>
              <a:ea typeface="方正小标宋_GBK" panose="02000000000000000000" charset="-122"/>
              <a:cs typeface="黑体" panose="02010609060101010101" charset="-122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3538855" y="2600325"/>
            <a:ext cx="1837690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200" b="1" kern="0" spc="1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1%的价格≈1个月家教</a:t>
            </a:r>
            <a:endParaRPr sz="12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040508" y="2002854"/>
            <a:ext cx="2160270" cy="1574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录制没备</a:t>
            </a:r>
            <a:r>
              <a:rPr sz="900" b="1" kern="0" spc="9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</a:t>
            </a:r>
            <a:r>
              <a:rPr lang="en-US" sz="900" b="1" kern="0" spc="9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</a:t>
            </a: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AI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分析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</a:t>
            </a:r>
            <a:r>
              <a:rPr lang="en-US"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定制复习资料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4190959" y="2923852"/>
            <a:ext cx="937260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3670" indent="-140970" algn="l" rtl="0" eaLnBrk="0">
              <a:lnSpc>
                <a:spcPct val="89000"/>
              </a:lnSpc>
            </a:pP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¥1,000/month</a:t>
            </a:r>
            <a:r>
              <a:rPr sz="1200" b="1" kern="0" spc="8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真实家教锚点</a:t>
            </a:r>
            <a:endParaRPr sz="9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67276" y="3460772"/>
            <a:ext cx="495247" cy="469879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44889" y="2832104"/>
            <a:ext cx="508003" cy="431791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6793" y="3454383"/>
            <a:ext cx="476286" cy="4572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03447" y="2546372"/>
            <a:ext cx="469907" cy="412723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3475061" y="3951849"/>
            <a:ext cx="740409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43" rIns="0" bIns="0"/>
          <a:lstStyle/>
          <a:p>
            <a:pPr marL="144780" indent="-132715" algn="l" rtl="0" eaLnBrk="0">
              <a:lnSpc>
                <a:spcPct val="106000"/>
              </a:lnSpc>
              <a:spcBef>
                <a:spcPts val="5"/>
              </a:spcBef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B2B: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教师端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教案生成</a:t>
            </a:r>
            <a:endParaRPr sz="9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4540288" y="3951849"/>
            <a:ext cx="741680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51435" indent="-39370" algn="l" rtl="0" eaLnBrk="0">
              <a:lnSpc>
                <a:spcPct val="105000"/>
              </a:lnSpc>
            </a:pP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B2B:</a:t>
            </a: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</a:t>
            </a:r>
            <a:r>
              <a:rPr sz="900" b="1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学校端 </a:t>
            </a:r>
            <a:r>
              <a:rPr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教学质量评估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415177" y="1373729"/>
            <a:ext cx="1583689" cy="156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黑体" panose="02010609060101010101" charset="-122"/>
              </a:rPr>
              <a:t>孩子上课回家不知道复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黑体" panose="02010609060101010101" charset="-122"/>
              </a:rPr>
              <a:t>习什么</a:t>
            </a:r>
            <a:endParaRPr sz="900" b="1" kern="0" spc="30" dirty="0">
              <a:solidFill>
                <a:srgbClr val="000000">
                  <a:alpha val="100000"/>
                </a:srgbClr>
              </a:solidFill>
              <a:latin typeface="方正小标宋_GBK" panose="02000000000000000000" charset="-122"/>
              <a:ea typeface="方正小标宋_GBK" panose="02000000000000000000" charset="-122"/>
              <a:cs typeface="黑体" panose="02010609060101010101" charset="-122"/>
            </a:endParaRPr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35063" y="2552712"/>
            <a:ext cx="444568" cy="406383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2122805" y="3013075"/>
            <a:ext cx="779780" cy="296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900" b="1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FOMO</a:t>
            </a: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营销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93345" algn="l" rtl="0" eaLnBrk="0">
              <a:lnSpc>
                <a:spcPct val="95000"/>
              </a:lnSpc>
              <a:spcBef>
                <a:spcPts val="65"/>
              </a:spcBef>
            </a:pPr>
            <a:r>
              <a:rPr sz="900" b="1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家长焦虑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4862" y="2552712"/>
            <a:ext cx="355620" cy="400043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22261" y="3008136"/>
            <a:ext cx="525780" cy="3035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4450" indent="-31750" algn="l" rtl="0" eaLnBrk="0">
              <a:lnSpc>
                <a:spcPct val="105000"/>
              </a:lnSpc>
            </a:pPr>
            <a:r>
              <a:rPr sz="900" b="1" kern="0" spc="8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品牌背书</a:t>
            </a:r>
            <a:r>
              <a:rPr sz="900" b="1" kern="0" spc="-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校服校徽</a:t>
            </a:r>
            <a:endParaRPr sz="9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392280" y="3012498"/>
            <a:ext cx="515619" cy="2978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0000"/>
              </a:lnSpc>
            </a:pPr>
            <a:endParaRPr sz="1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50165" indent="-37465" algn="l" rtl="0" eaLnBrk="0">
              <a:lnSpc>
                <a:spcPct val="101000"/>
              </a:lnSpc>
            </a:pPr>
            <a:r>
              <a:rPr sz="900" b="1" kern="0" spc="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技术验证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-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数据优化</a:t>
            </a:r>
            <a:endParaRPr sz="9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pic>
        <p:nvPicPr>
          <p:cNvPr id="56" name="picture 5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543060" y="3575036"/>
            <a:ext cx="152383" cy="488947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 rot="5400000">
            <a:off x="65928" y="1201282"/>
            <a:ext cx="332740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300"/>
              </a:lnSpc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《《</a:t>
            </a:r>
            <a:endParaRPr sz="9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420076" y="1130296"/>
            <a:ext cx="158761" cy="260372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080252" y="349227"/>
            <a:ext cx="266671" cy="152400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403345" y="349227"/>
            <a:ext cx="254002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8737600" cy="4876800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1523981" y="260544"/>
            <a:ext cx="5681979" cy="4014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ctr" rtl="0" eaLnBrk="0">
              <a:lnSpc>
                <a:spcPct val="84000"/>
              </a:lnSpc>
            </a:pPr>
            <a:r>
              <a:rPr lang="zh-CN" sz="1900" b="1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Arial" panose="020B0604020202020204"/>
              </a:rPr>
              <a:t>市场分析</a:t>
            </a:r>
            <a:endParaRPr sz="1900" dirty="0">
              <a:latin typeface="方正小标宋_GBK" panose="02000000000000000000" charset="-122"/>
              <a:ea typeface="方正小标宋_GBK" panose="02000000000000000000" charset="-122"/>
              <a:cs typeface="Arial" panose="020B0604020202020204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96490" algn="l" rtl="0" eaLnBrk="0">
              <a:lnSpc>
                <a:spcPct val="95000"/>
              </a:lnSpc>
              <a:spcBef>
                <a:spcPts val="420"/>
              </a:spcBef>
            </a:pPr>
            <a:r>
              <a:rPr sz="1400" b="1" kern="0" spc="-2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理论天花板</a:t>
            </a:r>
            <a:endParaRPr sz="1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450975" algn="l" rtl="0" eaLnBrk="0">
              <a:lnSpc>
                <a:spcPct val="87000"/>
              </a:lnSpc>
              <a:spcBef>
                <a:spcPts val="860"/>
              </a:spcBef>
            </a:pPr>
            <a:r>
              <a:rPr lang="en-US" sz="1600" b="1" kern="0" spc="7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</a:t>
            </a:r>
            <a:r>
              <a:rPr sz="1600" b="1" kern="0" spc="7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成为家校协同的标准设施</a:t>
            </a:r>
            <a:endParaRPr sz="16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654175" algn="l" rtl="0" eaLnBrk="0">
              <a:lnSpc>
                <a:spcPts val="2740"/>
              </a:lnSpc>
            </a:pPr>
            <a:r>
              <a:rPr lang="en-US" sz="16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</a:t>
            </a:r>
            <a:r>
              <a:rPr sz="16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对标1000亿元级市场</a:t>
            </a:r>
            <a:endParaRPr sz="16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2402840" algn="l" rtl="0" eaLnBrk="0">
              <a:lnSpc>
                <a:spcPct val="96000"/>
              </a:lnSpc>
              <a:spcBef>
                <a:spcPts val="430"/>
              </a:spcBef>
            </a:pP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可拓展市场</a:t>
            </a:r>
            <a:endParaRPr sz="1400" b="1" kern="0" spc="-30" dirty="0">
              <a:solidFill>
                <a:srgbClr val="FFFFFF">
                  <a:alpha val="100000"/>
                </a:srgbClr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2402840" algn="l" rtl="0" eaLnBrk="0">
              <a:lnSpc>
                <a:spcPct val="96000"/>
              </a:lnSpc>
              <a:spcBef>
                <a:spcPts val="430"/>
              </a:spcBef>
            </a:pPr>
            <a:endParaRPr sz="14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958975" algn="l" rtl="0" eaLnBrk="0">
              <a:lnSpc>
                <a:spcPct val="98000"/>
              </a:lnSpc>
              <a:spcBef>
                <a:spcPts val="865"/>
              </a:spcBef>
            </a:pPr>
            <a:r>
              <a:rPr lang="en-US" sz="1600" b="1" kern="0" spc="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</a:t>
            </a:r>
            <a:r>
              <a:rPr sz="1600" b="1" kern="0" spc="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公立校本地部署</a:t>
            </a:r>
            <a:endParaRPr lang="en-US" sz="1000" kern="0" spc="-10" dirty="0">
              <a:solidFill>
                <a:srgbClr val="000000">
                  <a:alpha val="100000"/>
                </a:srgbClr>
              </a:solidFill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974850" algn="l" rtl="0" eaLnBrk="0">
              <a:lnSpc>
                <a:spcPct val="96000"/>
              </a:lnSpc>
              <a:spcBef>
                <a:spcPts val="265"/>
              </a:spcBef>
            </a:pPr>
            <a:r>
              <a:rPr lang="en-US" sz="1000" kern="0" spc="-1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1.5亿人×20%覆盖率</a:t>
            </a:r>
            <a:endParaRPr sz="10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2012950" algn="l" rtl="0" eaLnBrk="0">
              <a:lnSpc>
                <a:spcPct val="96000"/>
              </a:lnSpc>
              <a:spcBef>
                <a:spcPts val="80"/>
              </a:spcBef>
            </a:pPr>
            <a:r>
              <a:rPr lang="en-US" sz="1000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</a:t>
            </a:r>
            <a:r>
              <a:rPr sz="1000" kern="0" spc="-5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品牌价值+技术壁垒</a:t>
            </a:r>
            <a:endParaRPr sz="10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542925" algn="l" rtl="0" eaLnBrk="0">
              <a:lnSpc>
                <a:spcPts val="2200"/>
              </a:lnSpc>
              <a:spcBef>
                <a:spcPts val="510"/>
              </a:spcBef>
            </a:pP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私立校场景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</a:t>
            </a:r>
            <a:r>
              <a:rPr lang="en-US" sz="1700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</a:t>
            </a:r>
            <a:r>
              <a:rPr sz="2600" b="1" kern="0" spc="-30" baseline="-2000" dirty="0">
                <a:solidFill>
                  <a:srgbClr val="FFFFFF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基础市场</a:t>
            </a:r>
            <a:r>
              <a:rPr sz="1600" kern="0" spc="80" dirty="0">
                <a:solidFill>
                  <a:srgbClr val="FFFFFF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</a:t>
            </a:r>
            <a:r>
              <a:rPr lang="en-US" sz="1600" kern="0" spc="80" dirty="0">
                <a:solidFill>
                  <a:srgbClr val="FFFFFF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</a:t>
            </a:r>
            <a:r>
              <a:rPr sz="1700" b="1" kern="0" spc="-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补习班场</a:t>
            </a:r>
            <a:r>
              <a:rPr sz="1700" b="1" kern="0" spc="-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景</a:t>
            </a:r>
            <a:endParaRPr sz="17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542290" algn="l" rtl="0" eaLnBrk="0">
              <a:lnSpc>
                <a:spcPct val="95000"/>
              </a:lnSpc>
              <a:spcBef>
                <a:spcPts val="55"/>
              </a:spcBef>
            </a:pP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500万学生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                   </a:t>
            </a:r>
            <a:r>
              <a:rPr lang="en-US" sz="1400" kern="0" spc="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      </a:t>
            </a:r>
            <a:r>
              <a:rPr sz="1400" b="1" kern="0" spc="7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5000万学</a:t>
            </a:r>
            <a:r>
              <a:rPr sz="1400" b="1" kern="0" spc="6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生</a:t>
            </a:r>
            <a:endParaRPr sz="14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539750" algn="l" rtl="0" eaLnBrk="0">
              <a:lnSpc>
                <a:spcPct val="97000"/>
              </a:lnSpc>
              <a:spcBef>
                <a:spcPts val="335"/>
              </a:spcBef>
            </a:pP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500万×10%×¥999</a:t>
            </a:r>
            <a:r>
              <a:rPr sz="1400" b="1" kern="0" spc="1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</a:t>
            </a:r>
            <a:r>
              <a:rPr lang="en-US" sz="1400" b="1" kern="0" spc="1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    </a:t>
            </a:r>
            <a:r>
              <a:rPr sz="1400" b="1" kern="0" spc="8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5000万×5%×¥999</a:t>
            </a:r>
            <a:endParaRPr sz="14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542925" algn="l" rtl="0" eaLnBrk="0">
              <a:lnSpc>
                <a:spcPct val="99000"/>
              </a:lnSpc>
              <a:spcBef>
                <a:spcPts val="405"/>
              </a:spcBef>
            </a:pPr>
            <a:r>
              <a:rPr sz="1900" b="1" kern="0" spc="19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=50亿元/年</a:t>
            </a:r>
            <a:r>
              <a:rPr sz="1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   </a:t>
            </a:r>
            <a:r>
              <a:rPr lang="en-US" sz="1900" b="1" kern="0" spc="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        </a:t>
            </a:r>
            <a:r>
              <a:rPr sz="1700" b="1" kern="0" spc="19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=250亿元/年</a:t>
            </a:r>
            <a:endParaRPr sz="1700" b="1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32730" y="0"/>
            <a:ext cx="1104869" cy="2825764"/>
          </a:xfrm>
          <a:prstGeom prst="rect">
            <a:avLst/>
          </a:prstGeom>
        </p:spPr>
      </p:pic>
      <p:sp>
        <p:nvSpPr>
          <p:cNvPr id="108" name="textbox 108"/>
          <p:cNvSpPr/>
          <p:nvPr/>
        </p:nvSpPr>
        <p:spPr>
          <a:xfrm>
            <a:off x="3432218" y="4426215"/>
            <a:ext cx="1852295" cy="281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700" b="1" kern="0" spc="60" dirty="0">
                <a:solidFill>
                  <a:srgbClr val="FFFFFF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小计：300亿元/年</a:t>
            </a:r>
            <a:endParaRPr sz="17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8737600" cy="4876800"/>
          </a:xfrm>
          <a:prstGeom prst="rect">
            <a:avLst/>
          </a:prstGeom>
        </p:spPr>
      </p:pic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355152" y="656768"/>
          <a:ext cx="5113654" cy="3444875"/>
        </p:xfrm>
        <a:graphic>
          <a:graphicData uri="http://schemas.openxmlformats.org/drawingml/2006/table">
            <a:tbl>
              <a:tblPr/>
              <a:tblGrid>
                <a:gridCol w="1677035"/>
                <a:gridCol w="1043939"/>
                <a:gridCol w="727075"/>
                <a:gridCol w="196850"/>
                <a:gridCol w="661034"/>
                <a:gridCol w="807719"/>
              </a:tblGrid>
              <a:tr h="2702560">
                <a:tc rowSpan="2">
                  <a:txBody>
                    <a:bodyPr/>
                    <a:lstStyle/>
                    <a:p>
                      <a:pPr marL="710565" algn="l" rtl="0" eaLnBrk="0">
                        <a:lnSpc>
                          <a:spcPts val="1090"/>
                        </a:lnSpc>
                        <a:spcBef>
                          <a:spcPts val="5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定</a:t>
                      </a:r>
                      <a:r>
                        <a:rPr sz="9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位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900" b="1" kern="0" spc="-30" dirty="0">
                        <a:solidFill>
                          <a:srgbClr val="80502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900" b="1" kern="0" spc="-30" dirty="0">
                        <a:solidFill>
                          <a:srgbClr val="80502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7310" algn="l" rtl="0" eaLnBrk="0">
                        <a:lnSpc>
                          <a:spcPts val="1085"/>
                        </a:lnSpc>
                        <a:spcBef>
                          <a:spcPts val="275"/>
                        </a:spcBef>
                      </a:pPr>
                      <a:r>
                        <a:rPr sz="900" b="1" kern="0" spc="-30" dirty="0">
                          <a:solidFill>
                            <a:srgbClr val="80502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70" dirty="0">
                          <a:solidFill>
                            <a:srgbClr val="80502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公立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校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：品牌引擎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7310" algn="l" rtl="0" eaLnBrk="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私立校+补习班：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利润中心</a:t>
                      </a:r>
                      <a:endParaRPr sz="900" b="1" kern="0" spc="-10" dirty="0">
                        <a:solidFill>
                          <a:srgbClr val="00000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7310" algn="l" rtl="0" eaLnBrk="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7310" algn="l" rtl="0" eaLnBrk="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公立校：教育数据基础设施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7310" algn="l" rtl="0" eaLnBrk="0">
                        <a:lnSpc>
                          <a:spcPts val="1090"/>
                        </a:lnSpc>
                        <a:spcBef>
                          <a:spcPts val="325"/>
                        </a:spcBef>
                      </a:pPr>
                      <a:r>
                        <a:rPr sz="900" b="1" kern="0" spc="-30" dirty="0">
                          <a:solidFill>
                            <a:srgbClr val="307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10" dirty="0">
                          <a:solidFill>
                            <a:srgbClr val="307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私立校+补习班：</a:t>
                      </a:r>
                      <a:r>
                        <a:rPr sz="900" b="1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Al教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育平台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7310" algn="l" rtl="0" eaLnBrk="0">
                        <a:lnSpc>
                          <a:spcPct val="94000"/>
                        </a:lnSpc>
                        <a:spcBef>
                          <a:spcPts val="275"/>
                        </a:spcBef>
                      </a:pPr>
                      <a:r>
                        <a:rPr sz="900" b="1" kern="0" spc="-40" dirty="0">
                          <a:solidFill>
                            <a:srgbClr val="40101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180" dirty="0">
                          <a:solidFill>
                            <a:srgbClr val="40101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教育数据的基础设施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238760" algn="l" rtl="0" eaLnBrk="0">
                        <a:lnSpc>
                          <a:spcPts val="1170"/>
                        </a:lnSpc>
                      </a:pPr>
                      <a:r>
                        <a:rPr sz="9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(Infrastructur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e</a:t>
                      </a:r>
                      <a:r>
                        <a:rPr sz="900" b="1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of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6891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Education</a:t>
                      </a:r>
                      <a:r>
                        <a:rPr sz="900" b="1" kern="0" spc="2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Data)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95000"/>
                        </a:lnSpc>
                        <a:spcBef>
                          <a:spcPts val="400"/>
                        </a:spcBef>
                      </a:pPr>
                      <a:r>
                        <a:rPr sz="1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终局想象三大场景</a:t>
                      </a:r>
                      <a:endParaRPr sz="13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21030" algn="l" rtl="0" eaLnBrk="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9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场景一：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21030" algn="l" rtl="0" eaLnBrk="0">
                        <a:lnSpc>
                          <a:spcPts val="1085"/>
                        </a:lnSpc>
                        <a:spcBef>
                          <a:spcPts val="270"/>
                        </a:spcBef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家长选补习班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19760" algn="l" rtl="0" eaLnBrk="0">
                        <a:lnSpc>
                          <a:spcPct val="85000"/>
                        </a:lnSpc>
                        <a:spcBef>
                          <a:spcPts val="12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→看课堂数据分析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361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64795" algn="l" rtl="0" eaLnBrk="0">
                        <a:lnSpc>
                          <a:spcPts val="1090"/>
                        </a:lnSpc>
                        <a:spcBef>
                          <a:spcPts val="5"/>
                        </a:spcBef>
                      </a:pPr>
                      <a:r>
                        <a:rPr sz="900" b="1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核心目标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3975" algn="l" rtl="0" eaLnBrk="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覆盖100所学校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3975" algn="l" rtl="0" eaLnBrk="0">
                        <a:lnSpc>
                          <a:spcPts val="1090"/>
                        </a:lnSpc>
                        <a:spcBef>
                          <a:spcPts val="330"/>
                        </a:spcBef>
                      </a:pP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10万付费用户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3975" algn="l" rtl="0" eaLnBrk="0">
                        <a:lnSpc>
                          <a:spcPts val="1090"/>
                        </a:lnSpc>
                        <a:spcBef>
                          <a:spcPts val="310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营收1亿元/年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81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3975" algn="l" rtl="0" eaLnBrk="0">
                        <a:lnSpc>
                          <a:spcPts val="1090"/>
                        </a:lnSpc>
                        <a:spcBef>
                          <a:spcPts val="280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40" dirty="0">
                          <a:solidFill>
                            <a:srgbClr val="20703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本地部需规横化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3975" algn="l" rtl="0" eaLnBrk="0">
                        <a:lnSpc>
                          <a:spcPts val="1090"/>
                        </a:lnSpc>
                        <a:spcBef>
                          <a:spcPts val="360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80" dirty="0">
                          <a:solidFill>
                            <a:srgbClr val="208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开放生态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4610" algn="l" rtl="0" eaLnBrk="0">
                        <a:lnSpc>
                          <a:spcPts val="1090"/>
                        </a:lnSpc>
                        <a:spcBef>
                          <a:spcPts val="115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30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平台抽佣20%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5245" algn="l" rtl="0" eaLnBrk="0">
                        <a:lnSpc>
                          <a:spcPts val="1085"/>
                        </a:lnSpc>
                        <a:spcBef>
                          <a:spcPts val="275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行业标准制定者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5397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价值网络节点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844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7970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护</a:t>
                      </a:r>
                      <a:r>
                        <a:rPr sz="9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城</a:t>
                      </a:r>
                      <a:r>
                        <a:rPr sz="9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河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0485" algn="l" rtl="0" eaLnBrk="0">
                        <a:lnSpc>
                          <a:spcPts val="1090"/>
                        </a:lnSpc>
                        <a:spcBef>
                          <a:spcPts val="280"/>
                        </a:spcBef>
                      </a:pP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品牌壁垒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0485" algn="l" rtl="0" eaLnBrk="0">
                        <a:lnSpc>
                          <a:spcPts val="1090"/>
                        </a:lnSpc>
                        <a:spcBef>
                          <a:spcPts val="160"/>
                        </a:spcBef>
                      </a:pP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技术壁垒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0485" algn="l" rtl="0" eaLnBrk="0">
                        <a:lnSpc>
                          <a:spcPts val="1090"/>
                        </a:lnSpc>
                        <a:spcBef>
                          <a:spcPts val="210"/>
                        </a:spcBef>
                      </a:pP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1120" algn="l" rtl="0" eaLnBrk="0">
                        <a:lnSpc>
                          <a:spcPts val="1095"/>
                        </a:lnSpc>
                        <a:spcBef>
                          <a:spcPts val="270"/>
                        </a:spcBef>
                      </a:pPr>
                      <a:r>
                        <a:rPr sz="900" b="1" kern="0" spc="-60" dirty="0">
                          <a:solidFill>
                            <a:srgbClr val="208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00" dirty="0">
                          <a:solidFill>
                            <a:srgbClr val="208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平台壁垒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0485" algn="l" rtl="0" eaLnBrk="0">
                        <a:lnSpc>
                          <a:spcPts val="1110"/>
                        </a:lnSpc>
                        <a:spcBef>
                          <a:spcPts val="270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10" dirty="0">
                          <a:solidFill>
                            <a:srgbClr val="207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生态壁垒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0485" algn="l" rtl="0" eaLnBrk="0">
                        <a:lnSpc>
                          <a:spcPts val="1095"/>
                        </a:lnSpc>
                        <a:spcBef>
                          <a:spcPts val="275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标准壁垒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0485" algn="l" rtl="0" eaLnBrk="0">
                        <a:lnSpc>
                          <a:spcPts val="1110"/>
                        </a:lnSpc>
                        <a:spcBef>
                          <a:spcPts val="170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生态壁垒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68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17081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商业模式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79000"/>
                        </a:lnSpc>
                      </a:pPr>
                      <a:endParaRPr sz="900" b="1" kern="0" spc="-70" dirty="0">
                        <a:solidFill>
                          <a:srgbClr val="00000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179000"/>
                        </a:lnSpc>
                      </a:pP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 </a:t>
                      </a:r>
                      <a:r>
                        <a:rPr lang="en-US"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    </a:t>
                      </a: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B2C</a:t>
                      </a:r>
                      <a:r>
                        <a:rPr sz="9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付费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64465" algn="l" rtl="0" eaLnBrk="0">
                        <a:lnSpc>
                          <a:spcPts val="1090"/>
                        </a:lnSpc>
                        <a:spcBef>
                          <a:spcPts val="230"/>
                        </a:spcBef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(订阅模式)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89865" indent="-107950" algn="l" rtl="0" eaLnBrk="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60" dirty="0">
                          <a:solidFill>
                            <a:srgbClr val="20905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B2B</a:t>
                      </a:r>
                      <a:r>
                        <a:rPr sz="900" b="1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服务费</a:t>
                      </a:r>
                      <a:r>
                        <a:rPr sz="9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</a:t>
                      </a:r>
                      <a:r>
                        <a:rPr sz="9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+抽佣模式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80010" algn="l" rtl="0" eaLnBrk="0">
                        <a:lnSpc>
                          <a:spcPts val="1095"/>
                        </a:lnSpc>
                        <a:spcBef>
                          <a:spcPts val="270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B2B2C平台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80010" algn="l" rtl="0" eaLnBrk="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数据服务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80010" algn="l" rtl="0" eaLnBrk="0">
                        <a:lnSpc>
                          <a:spcPts val="1090"/>
                        </a:lnSpc>
                        <a:spcBef>
                          <a:spcPts val="175"/>
                        </a:spcBef>
                      </a:pP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标准授权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68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874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数据价值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900" b="1" kern="0" spc="-70" dirty="0">
                        <a:solidFill>
                          <a:srgbClr val="000000">
                            <a:alpha val="100000"/>
                          </a:srgbClr>
                        </a:solidFill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  <a:sym typeface="+mn-ea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r>
                        <a:rPr lang="en-US"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    </a:t>
                      </a:r>
                      <a:r>
                        <a:rPr sz="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数据积累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1595" algn="l" rtl="0" eaLnBrk="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40" dirty="0">
                          <a:solidFill>
                            <a:srgbClr val="208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数据服务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1595" algn="l" rtl="0" eaLnBrk="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900" b="1" kern="0" spc="50" dirty="0">
                          <a:solidFill>
                            <a:srgbClr val="209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  <a:sym typeface="+mn-ea"/>
                        </a:rPr>
                        <a:t>●</a:t>
                      </a:r>
                      <a:r>
                        <a:rPr sz="900" b="1" kern="0" spc="-240" dirty="0">
                          <a:solidFill>
                            <a:srgbClr val="20704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数据售卖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37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0325" algn="l" rtl="0" eaLnBrk="0">
                        <a:lnSpc>
                          <a:spcPts val="1085"/>
                        </a:lnSpc>
                        <a:spcBef>
                          <a:spcPts val="270"/>
                        </a:spcBef>
                      </a:pP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数据资产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60325" algn="l" rtl="0" eaLnBrk="0">
                        <a:lnSpc>
                          <a:spcPts val="1095"/>
                        </a:lnSpc>
                        <a:spcBef>
                          <a:spcPts val="175"/>
                        </a:spcBef>
                      </a:pPr>
                      <a:r>
                        <a:rPr sz="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●</a:t>
                      </a:r>
                      <a:r>
                        <a:rPr sz="900" b="1" kern="0" spc="-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标准制定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686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42315"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22630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场景二：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20725" algn="l" rtl="0" eaLnBrk="0">
                        <a:lnSpc>
                          <a:spcPct val="87000"/>
                        </a:lnSpc>
                        <a:spcBef>
                          <a:spcPts val="285"/>
                        </a:spcBef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教育局评估老师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720725" algn="l" rtl="0" eaLnBrk="0">
                        <a:lnSpc>
                          <a:spcPts val="1170"/>
                        </a:lnSpc>
                      </a:pPr>
                      <a:r>
                        <a:rPr sz="9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→多维数据评价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</a:pPr>
                      <a:endParaRPr sz="10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456565" algn="l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场景三：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456565" algn="l" rtl="0" eaLnBrk="0">
                        <a:lnSpc>
                          <a:spcPts val="1090"/>
                        </a:lnSpc>
                        <a:spcBef>
                          <a:spcPts val="275"/>
                        </a:spcBef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Al教育下一代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105"/>
                        </a:spcBef>
                      </a:pPr>
                      <a:r>
                        <a:rPr sz="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→课堂数据行业标准</a:t>
                      </a:r>
                      <a:endParaRPr sz="900" b="1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7524" y="812816"/>
            <a:ext cx="2235165" cy="3663939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434659" y="996239"/>
          <a:ext cx="2087245" cy="3303270"/>
        </p:xfrm>
        <a:graphic>
          <a:graphicData uri="http://schemas.openxmlformats.org/drawingml/2006/table">
            <a:tbl>
              <a:tblPr/>
              <a:tblGrid>
                <a:gridCol w="718184"/>
                <a:gridCol w="1369060"/>
              </a:tblGrid>
              <a:tr h="33032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8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38100" algn="l" rtl="0" eaLnBrk="0">
                        <a:lnSpc>
                          <a:spcPct val="99000"/>
                        </a:lnSpc>
                      </a:pPr>
                      <a:r>
                        <a:rPr sz="16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0-3年</a:t>
                      </a:r>
                      <a:endParaRPr sz="16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38100" algn="l" rtl="0" eaLnBrk="0">
                        <a:lnSpc>
                          <a:spcPct val="99000"/>
                        </a:lnSpc>
                        <a:spcBef>
                          <a:spcPts val="490"/>
                        </a:spcBef>
                      </a:pPr>
                      <a:r>
                        <a:rPr sz="1600" b="1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3-5年</a:t>
                      </a:r>
                      <a:endParaRPr sz="16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99000"/>
                        </a:lnSpc>
                      </a:pPr>
                      <a:r>
                        <a:rPr sz="16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5-10年</a:t>
                      </a:r>
                      <a:endParaRPr sz="16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单点突破期</a:t>
                      </a:r>
                      <a:endParaRPr sz="1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23190" algn="l" rtl="0" eaLnBrk="0">
                        <a:lnSpc>
                          <a:spcPts val="1295"/>
                        </a:lnSpc>
                        <a:spcBef>
                          <a:spcPts val="235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Phase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1</a:t>
                      </a:r>
                      <a:r>
                        <a:rPr lang="en-US"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      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(</a:t>
                      </a:r>
                      <a:r>
                        <a:rPr lang="en-US"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0-3年</a:t>
                      </a:r>
                      <a:r>
                        <a:rPr sz="9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)</a:t>
                      </a:r>
                      <a:endParaRPr sz="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27000" algn="l" rtl="0" eaLnBrk="0">
                        <a:lnSpc>
                          <a:spcPct val="99000"/>
                        </a:lnSpc>
                        <a:spcBef>
                          <a:spcPts val="570"/>
                        </a:spcBef>
                      </a:pPr>
                      <a:r>
                        <a:rPr sz="19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平台化期</a:t>
                      </a:r>
                      <a:endParaRPr sz="1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23190" algn="l" rtl="0" eaLnBrk="0">
                        <a:lnSpc>
                          <a:spcPts val="1295"/>
                        </a:lnSpc>
                        <a:spcBef>
                          <a:spcPts val="19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Phase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 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2</a:t>
                      </a:r>
                      <a:r>
                        <a:rPr lang="en-US"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    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(</a:t>
                      </a:r>
                      <a:r>
                        <a:rPr lang="en-US"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3-5年</a:t>
                      </a:r>
                      <a:r>
                        <a:rPr sz="9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)</a:t>
                      </a:r>
                      <a:endParaRPr sz="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575"/>
                        </a:spcBef>
                      </a:pPr>
                      <a:r>
                        <a:rPr sz="19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基础设施期</a:t>
                      </a:r>
                      <a:endParaRPr sz="1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  <a:p>
                      <a:pPr marL="123190" algn="l" rtl="0" eaLnBrk="0">
                        <a:lnSpc>
                          <a:spcPts val="1240"/>
                        </a:lnSpc>
                        <a:spcBef>
                          <a:spcPts val="250"/>
                        </a:spcBef>
                      </a:pP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Phase</a:t>
                      </a:r>
                      <a:r>
                        <a:rPr sz="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 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3</a:t>
                      </a:r>
                      <a:r>
                        <a:rPr lang="en-US"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     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(</a:t>
                      </a:r>
                      <a:r>
                        <a:rPr lang="en-US"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5-10年</a:t>
                      </a:r>
                      <a:r>
                        <a:rPr sz="9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方正小标宋_GBK" panose="02000000000000000000" charset="-122"/>
                          <a:ea typeface="方正小标宋_GBK" panose="02000000000000000000" charset="-122"/>
                          <a:cs typeface="方正小标宋_GBK" panose="02000000000000000000" charset="-122"/>
                        </a:rPr>
                        <a:t>)</a:t>
                      </a:r>
                      <a:endParaRPr sz="900" dirty="0">
                        <a:latin typeface="方正小标宋_GBK" panose="02000000000000000000" charset="-122"/>
                        <a:ea typeface="方正小标宋_GBK" panose="02000000000000000000" charset="-122"/>
                        <a:cs typeface="方正小标宋_GBK" panose="02000000000000000000" charset="-122"/>
                      </a:endParaRPr>
                    </a:p>
                  </a:txBody>
                  <a:tcPr marL="0" marR="0" marT="79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3494200" y="4406262"/>
            <a:ext cx="4588509" cy="16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  <a:p>
            <a:pPr marL="12700" algn="l" rtl="0" eaLnBrk="0">
              <a:lnSpc>
                <a:spcPts val="1090"/>
              </a:lnSpc>
            </a:pP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对</a:t>
            </a:r>
            <a:r>
              <a:rPr sz="900" kern="0" spc="-14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标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公</a:t>
            </a:r>
            <a:r>
              <a:rPr sz="900" kern="0" spc="-9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司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  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教育界的微信：基础设施</a:t>
            </a:r>
            <a:r>
              <a:rPr lang="en-US"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|</a:t>
            </a:r>
            <a:r>
              <a:rPr lang="en-US"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  </a:t>
            </a:r>
            <a:r>
              <a:rPr sz="900" b="1" kern="0" spc="13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教育界的抖音</a:t>
            </a:r>
            <a:r>
              <a:rPr sz="900" b="1" kern="0" spc="120" dirty="0">
                <a:solidFill>
                  <a:srgbClr val="000000">
                    <a:alpha val="100000"/>
                  </a:srgbClr>
                </a:solidFill>
                <a:latin typeface="方正小标宋_GBK" panose="02000000000000000000" charset="-122"/>
                <a:ea typeface="方正小标宋_GBK" panose="02000000000000000000" charset="-122"/>
                <a:cs typeface="方正小标宋_GBK" panose="02000000000000000000" charset="-122"/>
              </a:rPr>
              <a:t>：内容分发标准制定者</a:t>
            </a:r>
            <a:endParaRPr sz="900" dirty="0">
              <a:latin typeface="方正小标宋_GBK" panose="02000000000000000000" charset="-122"/>
              <a:ea typeface="方正小标宋_GBK" panose="02000000000000000000" charset="-122"/>
              <a:cs typeface="方正小标宋_GBK" panose="02000000000000000000" charset="-122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01987" y="245908"/>
            <a:ext cx="2277110" cy="3086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终局演进：10年蓝</a:t>
            </a:r>
            <a:r>
              <a:rPr sz="19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图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3348831" y="270963"/>
            <a:ext cx="680719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3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核心定位</a:t>
            </a:r>
            <a:endParaRPr sz="1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3428</Words>
  <Application>WPS 演示</Application>
  <PresentationFormat/>
  <Paragraphs>486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宋体</vt:lpstr>
      <vt:lpstr>Wingdings</vt:lpstr>
      <vt:lpstr>Arial</vt:lpstr>
      <vt:lpstr>黑体</vt:lpstr>
      <vt:lpstr>微软雅黑</vt:lpstr>
      <vt:lpstr>隶书</vt:lpstr>
      <vt:lpstr>Times New Roman</vt:lpstr>
      <vt:lpstr>方正小标宋_GBK</vt:lpstr>
      <vt:lpstr>方正小标宋简体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小瑾瑜</cp:lastModifiedBy>
  <cp:revision>5</cp:revision>
  <dcterms:created xsi:type="dcterms:W3CDTF">2026-01-09T02:07:00Z</dcterms:created>
  <dcterms:modified xsi:type="dcterms:W3CDTF">2026-01-10T04:18:44Z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C5273E199DFA48A0B330731DFC683A66_13</vt:lpwstr>
  </property>
  <property fmtid="{D5CDD505-2E9C-101B-9397-08002B2CF9AE}" pid="3" name="KSOProductBuildVer">
    <vt:lpwstr>2052-12.1.0.24034</vt:lpwstr>
  </property>
</Properties>
</file>